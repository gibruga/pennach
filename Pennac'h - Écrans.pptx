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20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693BC3-14B7-387B-6C0A-0A6F490F0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21F539-6156-3142-3A0D-4ADCD068E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F7E118-0E15-1F8F-F82E-56245AA3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DCB2E9-5093-39E5-3DE9-CE70F906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2C0A1B-F43D-A3B3-81FD-B4A7AD28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12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E9F4D-B89E-AE88-31F7-3990961C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75E06D-F629-3690-98BB-5B391552D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EF69E5-AE27-5FB4-3362-09FCD387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C04D81-19F5-D924-0221-42B82B9E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D68F92-9E6B-B2ED-ECCE-5DFAA62D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44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1785A1-AFA4-C39E-D354-48DAA94C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9CCE2-EAFF-9466-53F6-C9799BF89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0D2276-333F-9671-1A70-1B55965C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732442-BBA2-F011-1490-BD8784D1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A64746-8E47-031E-5ED4-10417BEC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04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499DE5-87D6-6A37-56DF-832D3784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5C4FF-AFDA-6AC0-42E6-81A65818E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805486-6E31-88DF-0717-093A80D1D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EC145D-C105-BDE2-4231-72F0133C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4E6570-EB77-42D5-FF33-9E204325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DB4352-E380-B05A-D7D0-CA129E83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16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0A335-46D3-46E8-8B81-8A72B85A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FB113A-7C7A-873D-F30A-D63BDBDE6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9E3E96-9373-1B8E-0FD1-1C79EDCEF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EC2D48-56EF-34EF-6891-281E871CA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9F6E50-F36C-4C58-16CE-84B0D422E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AC55AC-6520-5750-3C18-26A6183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4224C0-0D47-C4DF-5740-D4413A01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114796-5444-975C-6437-423F2F9F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14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2FB3C-E781-D232-72A3-4B4E25D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C2C938-69E3-25BB-6945-FC1D52DC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3B83AF-C626-13A8-C0E0-B7B9B0AB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EB1F84-FF71-281A-E4B2-C2262B12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89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1CE282B-029B-7A07-B69A-F66F0788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C1EF05-C7EA-7A12-B7AD-70DAFD63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FBDE2E-3548-AFD4-95BB-80F8520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65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3E567-65CC-E5BF-6910-520203BF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1520FF-F676-0709-94C0-59ADF16A7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A74555-892F-FAAD-5ABA-A4EED06F2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F169B3-EDFC-A646-2A55-6ABB9DAE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A2F7F1-3F59-35BB-28BF-9A7A7F20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07F6E1-12D6-4006-0029-94781003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38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B2920-7868-B3FE-C09F-C23706CF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8B252B-8484-1962-7037-4AC077E29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DFB539-9320-8A68-7FDC-2649A6E92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E6139C-FD65-B42B-3821-668219CB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CEC9A1-E01C-CB18-BA53-59F9B037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DD6FA5-D1EB-9192-2556-249B3ECA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73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4A9F3B-6291-CA4D-5204-54D188DF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96A30F-2069-2E46-19A1-4823D8746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4BFB8-2A6D-E511-1397-7E73DC3E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535AC3-A6BB-4695-FDF4-CFBD4B35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50395A-435A-B9AE-7DAC-26DC239C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14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98088CB-A5BB-8001-D247-0FA7CA498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AD9BA9-B17A-5B7D-F70C-241FA2143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9E603B-D162-527C-982A-48C21816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CC8D49-11A3-45E3-F011-B653434D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6A7CC7-E3D7-19EE-EC73-FA1042C1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39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1A58162-0E88-F889-3DD4-AF9F35F3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C5BDA8-F370-1A85-5B09-734C3BB30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826809-556E-1A80-CDFA-DFA62E2AD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F8D2F-7157-4596-9517-DB5FE7C438F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44C9E2-737B-1A6F-33D9-A98944E31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5C7F01-3198-E812-5E23-C78D37CED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24AF6-82D3-4882-8610-245BF44A98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75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8D110DD-A08C-8644-9CED-98084BA601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" y="615693"/>
            <a:ext cx="10079736" cy="56266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128B7DC-F42F-5BB5-ED7F-A07579281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40" r="28097"/>
          <a:stretch>
            <a:fillRect/>
          </a:stretch>
        </p:blipFill>
        <p:spPr>
          <a:xfrm>
            <a:off x="5706892" y="615696"/>
            <a:ext cx="2596897" cy="5626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079C3F-C552-4E11-DFD9-CEAFDBFFCF97}"/>
              </a:ext>
            </a:extLst>
          </p:cNvPr>
          <p:cNvSpPr>
            <a:spLocks noChangeAspect="1"/>
          </p:cNvSpPr>
          <p:nvPr/>
        </p:nvSpPr>
        <p:spPr>
          <a:xfrm>
            <a:off x="5706893" y="615695"/>
            <a:ext cx="2596896" cy="562660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875C7C4-114F-3AAA-CDEE-67E44FD0CE03}"/>
              </a:ext>
            </a:extLst>
          </p:cNvPr>
          <p:cNvSpPr/>
          <p:nvPr/>
        </p:nvSpPr>
        <p:spPr>
          <a:xfrm>
            <a:off x="129702" y="58366"/>
            <a:ext cx="11952051" cy="3761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position Portrait, centrage sur le personnage </a:t>
            </a:r>
            <a:r>
              <a:rPr lang="fr-FR" dirty="0" err="1"/>
              <a:t>Pennac’h</a:t>
            </a:r>
            <a:r>
              <a:rPr lang="fr-FR" dirty="0"/>
              <a:t>, pleine hauteur</a:t>
            </a:r>
          </a:p>
        </p:txBody>
      </p:sp>
    </p:spTree>
    <p:extLst>
      <p:ext uri="{BB962C8B-B14F-4D97-AF65-F5344CB8AC3E}">
        <p14:creationId xmlns:p14="http://schemas.microsoft.com/office/powerpoint/2010/main" val="3984154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0215-BE5B-8233-E596-0FD1A408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1CBFADA-9994-24B4-0EDF-240CD40769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" y="615693"/>
            <a:ext cx="10079736" cy="562660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C22E601-D464-8600-F75E-20F0D6A705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" b="8659"/>
          <a:stretch>
            <a:fillRect/>
          </a:stretch>
        </p:blipFill>
        <p:spPr>
          <a:xfrm>
            <a:off x="1056132" y="1102906"/>
            <a:ext cx="10079736" cy="46521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ABA28B-806C-10CE-7A74-A701C2BDBA26}"/>
              </a:ext>
            </a:extLst>
          </p:cNvPr>
          <p:cNvSpPr>
            <a:spLocks noChangeAspect="1"/>
          </p:cNvSpPr>
          <p:nvPr/>
        </p:nvSpPr>
        <p:spPr>
          <a:xfrm rot="16200000">
            <a:off x="3769907" y="-1610869"/>
            <a:ext cx="4652187" cy="100797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9BC54CC-D0C3-E3D2-E6FA-B18C4A06C92D}"/>
              </a:ext>
            </a:extLst>
          </p:cNvPr>
          <p:cNvSpPr/>
          <p:nvPr/>
        </p:nvSpPr>
        <p:spPr>
          <a:xfrm>
            <a:off x="129702" y="58366"/>
            <a:ext cx="11952051" cy="3761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 position Paysage, centrage verticale et pleine largeur</a:t>
            </a:r>
          </a:p>
        </p:txBody>
      </p:sp>
    </p:spTree>
    <p:extLst>
      <p:ext uri="{BB962C8B-B14F-4D97-AF65-F5344CB8AC3E}">
        <p14:creationId xmlns:p14="http://schemas.microsoft.com/office/powerpoint/2010/main" val="122047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7125-A005-E4C7-7E97-0FD81182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E24194E-F256-BD0C-6D0B-32996DF5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" y="615693"/>
            <a:ext cx="10079736" cy="56266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606EDC6-5F15-B8B9-02C3-84B8BA908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40" r="28097"/>
          <a:stretch>
            <a:fillRect/>
          </a:stretch>
        </p:blipFill>
        <p:spPr>
          <a:xfrm>
            <a:off x="5706892" y="615696"/>
            <a:ext cx="2596897" cy="5626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975AFB-7203-F8C3-214D-970DC9531793}"/>
              </a:ext>
            </a:extLst>
          </p:cNvPr>
          <p:cNvSpPr>
            <a:spLocks noChangeAspect="1"/>
          </p:cNvSpPr>
          <p:nvPr/>
        </p:nvSpPr>
        <p:spPr>
          <a:xfrm>
            <a:off x="5706893" y="615695"/>
            <a:ext cx="2596896" cy="562660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C34ECEB-D981-D306-88A6-FFC91436A845}"/>
              </a:ext>
            </a:extLst>
          </p:cNvPr>
          <p:cNvSpPr/>
          <p:nvPr/>
        </p:nvSpPr>
        <p:spPr>
          <a:xfrm>
            <a:off x="129702" y="58366"/>
            <a:ext cx="11952051" cy="3761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Carnet de Suivi, en position Portrait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E02754C-D4A8-7579-A06C-EACAC602535D}"/>
              </a:ext>
            </a:extLst>
          </p:cNvPr>
          <p:cNvSpPr/>
          <p:nvPr/>
        </p:nvSpPr>
        <p:spPr>
          <a:xfrm>
            <a:off x="5888477" y="797668"/>
            <a:ext cx="2230876" cy="5337243"/>
          </a:xfrm>
          <a:prstGeom prst="roundRect">
            <a:avLst>
              <a:gd name="adj" fmla="val 5911"/>
            </a:avLst>
          </a:prstGeom>
          <a:solidFill>
            <a:schemeClr val="tx1"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200" i="1" dirty="0" err="1">
                <a:solidFill>
                  <a:schemeClr val="bg1"/>
                </a:solidFill>
                <a:latin typeface="Celticmd" panose="020B0600000000000000" pitchFamily="34" charset="0"/>
              </a:rPr>
              <a:t>Karned</a:t>
            </a:r>
            <a:r>
              <a:rPr lang="fr-FR" sz="1200" i="1" dirty="0">
                <a:solidFill>
                  <a:schemeClr val="bg1"/>
                </a:solidFill>
                <a:latin typeface="Celticmd" panose="020B0600000000000000" pitchFamily="34" charset="0"/>
              </a:rPr>
              <a:t> </a:t>
            </a:r>
            <a:r>
              <a:rPr lang="fr-FR" sz="1200" i="1" dirty="0" err="1">
                <a:solidFill>
                  <a:schemeClr val="bg1"/>
                </a:solidFill>
                <a:latin typeface="Celticmd" panose="020B0600000000000000" pitchFamily="34" charset="0"/>
              </a:rPr>
              <a:t>Heulian</a:t>
            </a:r>
            <a:endParaRPr lang="fr-FR" sz="1200" i="1" dirty="0">
              <a:solidFill>
                <a:schemeClr val="bg1"/>
              </a:solidFill>
              <a:latin typeface="Celticmd" panose="020B0600000000000000" pitchFamily="34" charset="0"/>
            </a:endParaRPr>
          </a:p>
          <a:p>
            <a:pPr algn="ctr"/>
            <a:r>
              <a:rPr lang="fr-FR" sz="2000" b="1" dirty="0">
                <a:solidFill>
                  <a:schemeClr val="bg1"/>
                </a:solidFill>
              </a:rPr>
              <a:t>GBG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D9EAC12-F631-9253-37F8-7F6CD00BBE00}"/>
              </a:ext>
            </a:extLst>
          </p:cNvPr>
          <p:cNvSpPr/>
          <p:nvPr/>
        </p:nvSpPr>
        <p:spPr>
          <a:xfrm>
            <a:off x="5966298" y="1407267"/>
            <a:ext cx="2075234" cy="1468873"/>
          </a:xfrm>
          <a:prstGeom prst="roundRect">
            <a:avLst>
              <a:gd name="adj" fmla="val 4792"/>
            </a:avLst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fr-FR" sz="1200" dirty="0">
                <a:solidFill>
                  <a:schemeClr val="tx1"/>
                </a:solidFill>
              </a:rPr>
              <a:t>No.  </a:t>
            </a:r>
            <a:r>
              <a:rPr lang="fr-FR" sz="1600" b="1" dirty="0">
                <a:solidFill>
                  <a:schemeClr val="tx1"/>
                </a:solidFill>
              </a:rPr>
              <a:t>1    </a:t>
            </a:r>
            <a:r>
              <a:rPr lang="fr-FR" sz="1200" dirty="0">
                <a:solidFill>
                  <a:schemeClr val="tx1"/>
                </a:solidFill>
              </a:rPr>
              <a:t>Type </a:t>
            </a:r>
            <a:r>
              <a:rPr lang="fr-FR" sz="1200" b="1" dirty="0">
                <a:solidFill>
                  <a:schemeClr val="tx1"/>
                </a:solidFill>
              </a:rPr>
              <a:t>Rein </a:t>
            </a:r>
            <a:r>
              <a:rPr lang="fr-FR" sz="1200" b="1" dirty="0" err="1">
                <a:solidFill>
                  <a:schemeClr val="tx1"/>
                </a:solidFill>
              </a:rPr>
              <a:t>Bec’h</a:t>
            </a:r>
            <a:endParaRPr lang="fr-FR" sz="1200" b="1" dirty="0">
              <a:solidFill>
                <a:schemeClr val="tx1"/>
              </a:solidFill>
            </a:endParaRPr>
          </a:p>
          <a:p>
            <a:br>
              <a:rPr lang="fr-FR" sz="1000" b="1" dirty="0">
                <a:solidFill>
                  <a:schemeClr val="tx1"/>
                </a:solidFill>
              </a:rPr>
            </a:br>
            <a:r>
              <a:rPr lang="fr-FR" sz="800" dirty="0" err="1">
                <a:solidFill>
                  <a:schemeClr val="tx1"/>
                </a:solidFill>
              </a:rPr>
              <a:t>Nerzh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4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Tizh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3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Adnerzhan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7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Padelezh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45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900" dirty="0">
                <a:solidFill>
                  <a:schemeClr val="tx1"/>
                </a:solidFill>
              </a:rPr>
              <a:t>min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Urabat</a:t>
            </a:r>
            <a:r>
              <a:rPr lang="fr-FR" sz="900" dirty="0">
                <a:solidFill>
                  <a:schemeClr val="tx1"/>
                </a:solidFill>
              </a:rPr>
              <a:t> </a:t>
            </a:r>
            <a:r>
              <a:rPr lang="fr-FR" sz="900" dirty="0" err="1">
                <a:solidFill>
                  <a:schemeClr val="tx1"/>
                </a:solidFill>
              </a:rPr>
              <a:t>Disonjal</a:t>
            </a:r>
            <a:r>
              <a:rPr lang="fr-FR" sz="900" dirty="0">
                <a:solidFill>
                  <a:schemeClr val="tx1"/>
                </a:solidFill>
              </a:rPr>
              <a:t> : </a:t>
            </a:r>
            <a:r>
              <a:rPr lang="fr-FR" sz="1000" b="1" dirty="0">
                <a:solidFill>
                  <a:schemeClr val="tx1"/>
                </a:solidFill>
              </a:rPr>
              <a:t>Phase 1 – adaptation volume</a:t>
            </a:r>
          </a:p>
          <a:p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900" dirty="0">
                <a:solidFill>
                  <a:schemeClr val="tx1"/>
                </a:solidFill>
              </a:rPr>
              <a:t>Résultats : </a:t>
            </a:r>
            <a:r>
              <a:rPr lang="fr-FR" sz="1000" dirty="0">
                <a:solidFill>
                  <a:schemeClr val="tx1"/>
                </a:solidFill>
              </a:rPr>
              <a:t>à venir</a:t>
            </a:r>
          </a:p>
          <a:p>
            <a:endParaRPr lang="fr-FR" sz="1200" b="1" dirty="0">
              <a:solidFill>
                <a:schemeClr val="tx1"/>
              </a:solidFill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2B4AB7A-2AA9-7F97-4534-238F3A37C08D}"/>
              </a:ext>
            </a:extLst>
          </p:cNvPr>
          <p:cNvCxnSpPr>
            <a:cxnSpLocks/>
          </p:cNvCxnSpPr>
          <p:nvPr/>
        </p:nvCxnSpPr>
        <p:spPr>
          <a:xfrm>
            <a:off x="6018179" y="2613498"/>
            <a:ext cx="19260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CB306BA-DDC0-EC11-2C70-DE05F8FCE5BA}"/>
              </a:ext>
            </a:extLst>
          </p:cNvPr>
          <p:cNvSpPr/>
          <p:nvPr/>
        </p:nvSpPr>
        <p:spPr>
          <a:xfrm>
            <a:off x="5976025" y="2979902"/>
            <a:ext cx="2075234" cy="1361872"/>
          </a:xfrm>
          <a:prstGeom prst="roundRect">
            <a:avLst>
              <a:gd name="adj" fmla="val 4792"/>
            </a:avLst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fr-FR" sz="1200" dirty="0">
                <a:solidFill>
                  <a:schemeClr val="tx1"/>
                </a:solidFill>
              </a:rPr>
              <a:t>No.  </a:t>
            </a:r>
            <a:r>
              <a:rPr lang="fr-FR" sz="1600" b="1" dirty="0">
                <a:solidFill>
                  <a:schemeClr val="tx1"/>
                </a:solidFill>
              </a:rPr>
              <a:t>2    </a:t>
            </a:r>
            <a:r>
              <a:rPr lang="fr-FR" sz="1200" dirty="0">
                <a:solidFill>
                  <a:schemeClr val="tx1"/>
                </a:solidFill>
              </a:rPr>
              <a:t>Type </a:t>
            </a:r>
            <a:r>
              <a:rPr lang="fr-FR" sz="1200" b="1" dirty="0">
                <a:solidFill>
                  <a:schemeClr val="tx1"/>
                </a:solidFill>
              </a:rPr>
              <a:t>Rein </a:t>
            </a:r>
            <a:r>
              <a:rPr lang="fr-FR" sz="1200" b="1" dirty="0" err="1">
                <a:solidFill>
                  <a:schemeClr val="tx1"/>
                </a:solidFill>
              </a:rPr>
              <a:t>Bec’h</a:t>
            </a:r>
            <a:br>
              <a:rPr lang="fr-FR" sz="1200" b="1" dirty="0">
                <a:solidFill>
                  <a:schemeClr val="tx1"/>
                </a:solidFill>
              </a:rPr>
            </a:br>
            <a:r>
              <a:rPr lang="fr-FR" sz="800" dirty="0" err="1">
                <a:solidFill>
                  <a:schemeClr val="tx1"/>
                </a:solidFill>
              </a:rPr>
              <a:t>Nerzh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5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Tizh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3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Adnerzhan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5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Padelezh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45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900" dirty="0">
                <a:solidFill>
                  <a:schemeClr val="tx1"/>
                </a:solidFill>
              </a:rPr>
              <a:t>min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Urabat</a:t>
            </a:r>
            <a:r>
              <a:rPr lang="fr-FR" sz="900" dirty="0">
                <a:solidFill>
                  <a:schemeClr val="tx1"/>
                </a:solidFill>
              </a:rPr>
              <a:t> </a:t>
            </a:r>
            <a:r>
              <a:rPr lang="fr-FR" sz="900" dirty="0" err="1">
                <a:solidFill>
                  <a:schemeClr val="tx1"/>
                </a:solidFill>
              </a:rPr>
              <a:t>Disonjal</a:t>
            </a:r>
            <a:r>
              <a:rPr lang="fr-FR" sz="900" dirty="0">
                <a:solidFill>
                  <a:schemeClr val="tx1"/>
                </a:solidFill>
              </a:rPr>
              <a:t> : </a:t>
            </a:r>
            <a:r>
              <a:rPr lang="fr-FR" sz="1000" b="1" dirty="0">
                <a:solidFill>
                  <a:schemeClr val="tx1"/>
                </a:solidFill>
              </a:rPr>
              <a:t>Phase 1 – adaptation volume</a:t>
            </a:r>
          </a:p>
          <a:p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900" dirty="0">
                <a:solidFill>
                  <a:schemeClr val="tx1"/>
                </a:solidFill>
              </a:rPr>
              <a:t>Résultats : </a:t>
            </a:r>
            <a:r>
              <a:rPr lang="fr-FR" sz="1000" dirty="0">
                <a:solidFill>
                  <a:schemeClr val="tx1"/>
                </a:solidFill>
              </a:rPr>
              <a:t>à venir</a:t>
            </a:r>
          </a:p>
          <a:p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A63DC6B-050E-485A-DA41-971870FCED37}"/>
              </a:ext>
            </a:extLst>
          </p:cNvPr>
          <p:cNvSpPr/>
          <p:nvPr/>
        </p:nvSpPr>
        <p:spPr>
          <a:xfrm>
            <a:off x="5966298" y="4445536"/>
            <a:ext cx="2075234" cy="1361872"/>
          </a:xfrm>
          <a:prstGeom prst="roundRect">
            <a:avLst>
              <a:gd name="adj" fmla="val 4792"/>
            </a:avLst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fr-FR" sz="1200" dirty="0">
                <a:solidFill>
                  <a:schemeClr val="tx1"/>
                </a:solidFill>
              </a:rPr>
              <a:t>No.  </a:t>
            </a:r>
            <a:r>
              <a:rPr lang="fr-FR" sz="1600" b="1" dirty="0">
                <a:solidFill>
                  <a:schemeClr val="tx1"/>
                </a:solidFill>
              </a:rPr>
              <a:t>3    </a:t>
            </a:r>
            <a:r>
              <a:rPr lang="fr-FR" sz="1200" dirty="0">
                <a:solidFill>
                  <a:schemeClr val="tx1"/>
                </a:solidFill>
              </a:rPr>
              <a:t>Type </a:t>
            </a:r>
            <a:r>
              <a:rPr lang="fr-FR" sz="1200" b="1" dirty="0">
                <a:solidFill>
                  <a:schemeClr val="tx1"/>
                </a:solidFill>
              </a:rPr>
              <a:t>Rein </a:t>
            </a:r>
            <a:r>
              <a:rPr lang="fr-FR" sz="1200" b="1" dirty="0" err="1">
                <a:solidFill>
                  <a:schemeClr val="tx1"/>
                </a:solidFill>
              </a:rPr>
              <a:t>Bec’h</a:t>
            </a:r>
            <a:br>
              <a:rPr lang="fr-FR" sz="1200" b="1" dirty="0">
                <a:solidFill>
                  <a:schemeClr val="tx1"/>
                </a:solidFill>
              </a:rPr>
            </a:br>
            <a:r>
              <a:rPr lang="fr-FR" sz="800" dirty="0" err="1">
                <a:solidFill>
                  <a:schemeClr val="tx1"/>
                </a:solidFill>
              </a:rPr>
              <a:t>Nerzh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5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Tizh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5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Adnerzhan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5</a:t>
            </a:r>
            <a:r>
              <a:rPr lang="fr-FR" sz="1200" dirty="0">
                <a:solidFill>
                  <a:schemeClr val="tx1"/>
                </a:solidFill>
              </a:rPr>
              <a:t> 	</a:t>
            </a:r>
            <a:r>
              <a:rPr lang="fr-FR" sz="1000" dirty="0" err="1">
                <a:solidFill>
                  <a:schemeClr val="tx1"/>
                </a:solidFill>
              </a:rPr>
              <a:t>Padelezh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45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900" dirty="0">
                <a:solidFill>
                  <a:schemeClr val="tx1"/>
                </a:solidFill>
              </a:rPr>
              <a:t>min</a:t>
            </a:r>
          </a:p>
          <a:p>
            <a:r>
              <a:rPr lang="fr-FR" sz="900" dirty="0" err="1">
                <a:solidFill>
                  <a:schemeClr val="tx1"/>
                </a:solidFill>
              </a:rPr>
              <a:t>Urabat</a:t>
            </a:r>
            <a:r>
              <a:rPr lang="fr-FR" sz="900" dirty="0">
                <a:solidFill>
                  <a:schemeClr val="tx1"/>
                </a:solidFill>
              </a:rPr>
              <a:t> </a:t>
            </a:r>
            <a:r>
              <a:rPr lang="fr-FR" sz="900" dirty="0" err="1">
                <a:solidFill>
                  <a:schemeClr val="tx1"/>
                </a:solidFill>
              </a:rPr>
              <a:t>Disonjal</a:t>
            </a:r>
            <a:r>
              <a:rPr lang="fr-FR" sz="900" dirty="0">
                <a:solidFill>
                  <a:schemeClr val="tx1"/>
                </a:solidFill>
              </a:rPr>
              <a:t> : </a:t>
            </a:r>
            <a:r>
              <a:rPr lang="fr-FR" sz="1000" b="1" dirty="0">
                <a:solidFill>
                  <a:schemeClr val="tx1"/>
                </a:solidFill>
              </a:rPr>
              <a:t>Phase 1 – adaptation volume</a:t>
            </a:r>
          </a:p>
          <a:p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900" dirty="0">
                <a:solidFill>
                  <a:schemeClr val="tx1"/>
                </a:solidFill>
              </a:rPr>
              <a:t>Résultats : </a:t>
            </a:r>
            <a:r>
              <a:rPr lang="fr-FR" sz="1000" dirty="0">
                <a:solidFill>
                  <a:schemeClr val="tx1"/>
                </a:solidFill>
              </a:rPr>
              <a:t>à venir</a:t>
            </a:r>
          </a:p>
          <a:p>
            <a:endParaRPr lang="fr-FR" sz="1200" b="1" dirty="0">
              <a:solidFill>
                <a:schemeClr val="tx1"/>
              </a:solidFill>
            </a:endParaRPr>
          </a:p>
        </p:txBody>
      </p:sp>
      <p:sp>
        <p:nvSpPr>
          <p:cNvPr id="14" name="Flèche : double flèche horizontale 13">
            <a:extLst>
              <a:ext uri="{FF2B5EF4-FFF2-40B4-BE49-F238E27FC236}">
                <a16:creationId xmlns:a16="http://schemas.microsoft.com/office/drawing/2014/main" id="{6AFAE219-C4F4-4F53-9CFC-4BF43D08100C}"/>
              </a:ext>
            </a:extLst>
          </p:cNvPr>
          <p:cNvSpPr/>
          <p:nvPr/>
        </p:nvSpPr>
        <p:spPr>
          <a:xfrm rot="16200000">
            <a:off x="7535693" y="3647873"/>
            <a:ext cx="2756169" cy="570690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Défilement Vertical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228C42C-F683-D4B5-1DF9-F0C179FD91D9}"/>
              </a:ext>
            </a:extLst>
          </p:cNvPr>
          <p:cNvSpPr/>
          <p:nvPr/>
        </p:nvSpPr>
        <p:spPr>
          <a:xfrm>
            <a:off x="6018179" y="1733144"/>
            <a:ext cx="557719" cy="103762"/>
          </a:xfrm>
          <a:prstGeom prst="round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00FF"/>
                </a:solidFill>
              </a:rPr>
              <a:t>Prochaine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DAEFE35-906A-003A-07D9-CBF855E96C32}"/>
              </a:ext>
            </a:extLst>
          </p:cNvPr>
          <p:cNvCxnSpPr>
            <a:cxnSpLocks/>
          </p:cNvCxnSpPr>
          <p:nvPr/>
        </p:nvCxnSpPr>
        <p:spPr>
          <a:xfrm>
            <a:off x="6018179" y="4056434"/>
            <a:ext cx="19260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C839BB5-CBDD-2BB1-C0CB-79F9D72FB915}"/>
              </a:ext>
            </a:extLst>
          </p:cNvPr>
          <p:cNvCxnSpPr>
            <a:cxnSpLocks/>
          </p:cNvCxnSpPr>
          <p:nvPr/>
        </p:nvCxnSpPr>
        <p:spPr>
          <a:xfrm>
            <a:off x="6018179" y="5518825"/>
            <a:ext cx="19260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70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5A76-64B6-03D3-3FBA-04CD7D8BA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F738C68-6E47-8C8A-62FF-07515541A7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" y="615693"/>
            <a:ext cx="10079736" cy="562660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4ABD20A-4B98-B0FF-AFB6-DD72F55CD2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" b="8659"/>
          <a:stretch>
            <a:fillRect/>
          </a:stretch>
        </p:blipFill>
        <p:spPr>
          <a:xfrm>
            <a:off x="1056132" y="1102906"/>
            <a:ext cx="10079736" cy="46521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717AE9-F4F8-5722-7E44-B77ADFEDFBDD}"/>
              </a:ext>
            </a:extLst>
          </p:cNvPr>
          <p:cNvSpPr>
            <a:spLocks noChangeAspect="1"/>
          </p:cNvSpPr>
          <p:nvPr/>
        </p:nvSpPr>
        <p:spPr>
          <a:xfrm rot="16200000">
            <a:off x="3769907" y="-1610869"/>
            <a:ext cx="4652187" cy="100797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7A8E90A-571B-9911-DEAD-ED5A16F9115E}"/>
              </a:ext>
            </a:extLst>
          </p:cNvPr>
          <p:cNvSpPr/>
          <p:nvPr/>
        </p:nvSpPr>
        <p:spPr>
          <a:xfrm>
            <a:off x="129702" y="58366"/>
            <a:ext cx="11952051" cy="3761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Carnet de Suivi, en position Paysage</a:t>
            </a:r>
          </a:p>
        </p:txBody>
      </p:sp>
      <p:sp>
        <p:nvSpPr>
          <p:cNvPr id="13" name="Flèche : double flèche horizontale 12">
            <a:extLst>
              <a:ext uri="{FF2B5EF4-FFF2-40B4-BE49-F238E27FC236}">
                <a16:creationId xmlns:a16="http://schemas.microsoft.com/office/drawing/2014/main" id="{299206A9-96EC-DA27-B606-EB5BF5739679}"/>
              </a:ext>
            </a:extLst>
          </p:cNvPr>
          <p:cNvSpPr/>
          <p:nvPr/>
        </p:nvSpPr>
        <p:spPr>
          <a:xfrm>
            <a:off x="4643336" y="5933425"/>
            <a:ext cx="2756169" cy="570690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Défilement Horizontal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24699D2C-6951-AE7B-08DF-E99380321D70}"/>
              </a:ext>
            </a:extLst>
          </p:cNvPr>
          <p:cNvGrpSpPr/>
          <p:nvPr/>
        </p:nvGrpSpPr>
        <p:grpSpPr>
          <a:xfrm>
            <a:off x="1297021" y="1705580"/>
            <a:ext cx="1712070" cy="3966029"/>
            <a:chOff x="1297021" y="1705581"/>
            <a:chExt cx="1712070" cy="3966029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48261839-B184-B854-6610-B2AB5B6262FB}"/>
                </a:ext>
              </a:extLst>
            </p:cNvPr>
            <p:cNvGrpSpPr/>
            <p:nvPr/>
          </p:nvGrpSpPr>
          <p:grpSpPr>
            <a:xfrm>
              <a:off x="1297021" y="1705581"/>
              <a:ext cx="1712070" cy="3966029"/>
              <a:chOff x="1277566" y="1705582"/>
              <a:chExt cx="1712070" cy="3966029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992E6497-41BA-021E-14F4-EE074AB6CB52}"/>
                  </a:ext>
                </a:extLst>
              </p:cNvPr>
              <p:cNvSpPr/>
              <p:nvPr/>
            </p:nvSpPr>
            <p:spPr>
              <a:xfrm>
                <a:off x="1277566" y="1705582"/>
                <a:ext cx="1712070" cy="3966029"/>
              </a:xfrm>
              <a:prstGeom prst="roundRect">
                <a:avLst>
                  <a:gd name="adj" fmla="val 4792"/>
                </a:avLst>
              </a:prstGeom>
              <a:solidFill>
                <a:schemeClr val="bg1">
                  <a:alpha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No. 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Type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Rein </a:t>
                </a:r>
                <a:r>
                  <a:rPr lang="fr-FR" sz="1600" b="1" dirty="0" err="1">
                    <a:solidFill>
                      <a:schemeClr val="tx1"/>
                    </a:solidFill>
                  </a:rPr>
                  <a:t>Bec’h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br>
                  <a:rPr lang="fr-FR" sz="1100" b="1" dirty="0">
                    <a:solidFill>
                      <a:schemeClr val="tx1"/>
                    </a:solidFill>
                  </a:rPr>
                </a:br>
                <a:r>
                  <a:rPr lang="fr-FR" sz="1000" dirty="0" err="1">
                    <a:solidFill>
                      <a:schemeClr val="tx1"/>
                    </a:solidFill>
                  </a:rPr>
                  <a:t>Nerzh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	</a:t>
                </a:r>
                <a:r>
                  <a:rPr lang="fr-FR" sz="1100" dirty="0" err="1">
                    <a:solidFill>
                      <a:schemeClr val="tx1"/>
                    </a:solidFill>
                  </a:rPr>
                  <a:t>Tizh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Adnerzhan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r>
                  <a:rPr lang="fr-FR" sz="1100" dirty="0" err="1">
                    <a:solidFill>
                      <a:schemeClr val="tx1"/>
                    </a:solidFill>
                  </a:rPr>
                  <a:t>Padelezh</a:t>
                </a:r>
                <a:r>
                  <a:rPr lang="fr-FR" sz="1100" dirty="0">
                    <a:solidFill>
                      <a:schemeClr val="tx1"/>
                    </a:solidFill>
                  </a:rPr>
                  <a:t>            </a:t>
                </a:r>
                <a:r>
                  <a:rPr lang="fr-FR" sz="1400" dirty="0">
                    <a:solidFill>
                      <a:schemeClr val="tx1"/>
                    </a:solidFill>
                  </a:rPr>
                  <a:t>  </a:t>
                </a:r>
                <a:r>
                  <a:rPr lang="fr-FR" sz="1050" dirty="0">
                    <a:solidFill>
                      <a:schemeClr val="tx1"/>
                    </a:solidFill>
                  </a:rPr>
                  <a:t>min</a:t>
                </a:r>
              </a:p>
              <a:p>
                <a:endParaRPr lang="fr-FR" sz="1050" dirty="0">
                  <a:solidFill>
                    <a:schemeClr val="tx1"/>
                  </a:solidFill>
                </a:endParaRPr>
              </a:p>
              <a:p>
                <a:r>
                  <a:rPr lang="fr-FR" sz="1050" dirty="0" err="1">
                    <a:solidFill>
                      <a:schemeClr val="tx1"/>
                    </a:solidFill>
                  </a:rPr>
                  <a:t>Urabat</a:t>
                </a:r>
                <a:r>
                  <a:rPr lang="fr-FR" sz="105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Disonjal</a:t>
                </a:r>
                <a:r>
                  <a:rPr lang="fr-FR" sz="1050" dirty="0">
                    <a:solidFill>
                      <a:schemeClr val="tx1"/>
                    </a:solidFill>
                  </a:rPr>
                  <a:t> :</a:t>
                </a:r>
                <a:br>
                  <a:rPr lang="fr-FR" sz="1050" dirty="0">
                    <a:solidFill>
                      <a:schemeClr val="tx1"/>
                    </a:solidFill>
                  </a:rPr>
                </a:br>
                <a:r>
                  <a:rPr lang="fr-FR" sz="1100" b="1" dirty="0">
                    <a:solidFill>
                      <a:schemeClr val="tx1"/>
                    </a:solidFill>
                  </a:rPr>
                  <a:t>Phase 1 – adaptation volume</a:t>
                </a:r>
              </a:p>
              <a:p>
                <a:endParaRPr lang="fr-FR" sz="1100" b="1" dirty="0">
                  <a:solidFill>
                    <a:schemeClr val="tx1"/>
                  </a:solidFill>
                </a:endParaRPr>
              </a:p>
              <a:p>
                <a:r>
                  <a:rPr lang="fr-FR" sz="1050" dirty="0">
                    <a:solidFill>
                      <a:schemeClr val="tx1"/>
                    </a:solidFill>
                  </a:rPr>
                  <a:t>Résultats : </a:t>
                </a:r>
                <a:r>
                  <a:rPr lang="fr-FR" sz="1100" dirty="0">
                    <a:solidFill>
                      <a:schemeClr val="tx1"/>
                    </a:solidFill>
                  </a:rPr>
                  <a:t>à venir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 : coins arrondis 14">
                <a:extLst>
                  <a:ext uri="{FF2B5EF4-FFF2-40B4-BE49-F238E27FC236}">
                    <a16:creationId xmlns:a16="http://schemas.microsoft.com/office/drawing/2014/main" id="{9ED4DC3E-0AB3-DE35-ED6E-837B9AB13194}"/>
                  </a:ext>
                </a:extLst>
              </p:cNvPr>
              <p:cNvSpPr/>
              <p:nvPr/>
            </p:nvSpPr>
            <p:spPr>
              <a:xfrm>
                <a:off x="2172511" y="1823935"/>
                <a:ext cx="726332" cy="212387"/>
              </a:xfrm>
              <a:prstGeom prst="roundRect">
                <a:avLst/>
              </a:prstGeom>
              <a:noFill/>
              <a:ln w="3175">
                <a:solidFill>
                  <a:srgbClr val="0000FF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fr-FR" sz="1050" dirty="0">
                    <a:solidFill>
                      <a:srgbClr val="0000FF"/>
                    </a:solidFill>
                  </a:rPr>
                  <a:t>Prochaine</a:t>
                </a:r>
              </a:p>
            </p:txBody>
          </p: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FFE8C2A2-03BC-4F60-67A2-36F5C840E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8903" y="4046706"/>
                <a:ext cx="1549940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FF71F240-A68E-955E-4E8A-7382E6ACA424}"/>
                </a:ext>
              </a:extLst>
            </p:cNvPr>
            <p:cNvSpPr/>
            <p:nvPr/>
          </p:nvSpPr>
          <p:spPr>
            <a:xfrm>
              <a:off x="2042809" y="3080838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45</a:t>
              </a:r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8EFCA511-91A4-5B2C-02ED-CDA4158CFC3B}"/>
                </a:ext>
              </a:extLst>
            </p:cNvPr>
            <p:cNvSpPr/>
            <p:nvPr/>
          </p:nvSpPr>
          <p:spPr>
            <a:xfrm>
              <a:off x="2610256" y="2581337"/>
              <a:ext cx="220494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AA9FA662-542E-EBF8-2B77-FB3B727058A4}"/>
                </a:ext>
              </a:extLst>
            </p:cNvPr>
            <p:cNvSpPr/>
            <p:nvPr/>
          </p:nvSpPr>
          <p:spPr>
            <a:xfrm>
              <a:off x="1750978" y="2581337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75C0D36F-E0A8-1182-DD8B-62B53DB10096}"/>
                </a:ext>
              </a:extLst>
            </p:cNvPr>
            <p:cNvSpPr/>
            <p:nvPr/>
          </p:nvSpPr>
          <p:spPr>
            <a:xfrm>
              <a:off x="2033081" y="2837235"/>
              <a:ext cx="220494" cy="201038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A1A59870-1457-CD65-D8A4-A477391A3C32}"/>
              </a:ext>
            </a:extLst>
          </p:cNvPr>
          <p:cNvGrpSpPr/>
          <p:nvPr/>
        </p:nvGrpSpPr>
        <p:grpSpPr>
          <a:xfrm>
            <a:off x="3271737" y="1705580"/>
            <a:ext cx="1712070" cy="3966029"/>
            <a:chOff x="1297021" y="1705581"/>
            <a:chExt cx="1712070" cy="3966029"/>
          </a:xfrm>
        </p:grpSpPr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A15367F7-6253-9751-7EFD-EABD98D175B8}"/>
                </a:ext>
              </a:extLst>
            </p:cNvPr>
            <p:cNvGrpSpPr/>
            <p:nvPr/>
          </p:nvGrpSpPr>
          <p:grpSpPr>
            <a:xfrm>
              <a:off x="1297021" y="1705581"/>
              <a:ext cx="1712070" cy="3966029"/>
              <a:chOff x="1277566" y="1705582"/>
              <a:chExt cx="1712070" cy="3966029"/>
            </a:xfrm>
          </p:grpSpPr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697FEA62-E646-F391-98EC-D337AE6AA049}"/>
                  </a:ext>
                </a:extLst>
              </p:cNvPr>
              <p:cNvSpPr/>
              <p:nvPr/>
            </p:nvSpPr>
            <p:spPr>
              <a:xfrm>
                <a:off x="1277566" y="1705582"/>
                <a:ext cx="1712070" cy="3966029"/>
              </a:xfrm>
              <a:prstGeom prst="roundRect">
                <a:avLst>
                  <a:gd name="adj" fmla="val 4792"/>
                </a:avLst>
              </a:prstGeom>
              <a:solidFill>
                <a:schemeClr val="bg1">
                  <a:alpha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No. 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2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Type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Rein </a:t>
                </a:r>
                <a:r>
                  <a:rPr lang="fr-FR" sz="1600" b="1" dirty="0" err="1">
                    <a:solidFill>
                      <a:schemeClr val="tx1"/>
                    </a:solidFill>
                  </a:rPr>
                  <a:t>Bec’h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br>
                  <a:rPr lang="fr-FR" sz="1100" b="1" dirty="0">
                    <a:solidFill>
                      <a:schemeClr val="tx1"/>
                    </a:solidFill>
                  </a:rPr>
                </a:br>
                <a:r>
                  <a:rPr lang="fr-FR" sz="1000" dirty="0" err="1">
                    <a:solidFill>
                      <a:schemeClr val="tx1"/>
                    </a:solidFill>
                  </a:rPr>
                  <a:t>Nerzh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	</a:t>
                </a:r>
                <a:r>
                  <a:rPr lang="fr-FR" sz="1100" dirty="0" err="1">
                    <a:solidFill>
                      <a:schemeClr val="tx1"/>
                    </a:solidFill>
                  </a:rPr>
                  <a:t>Tizh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Adnerzhan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r>
                  <a:rPr lang="fr-FR" sz="1100" dirty="0" err="1">
                    <a:solidFill>
                      <a:schemeClr val="tx1"/>
                    </a:solidFill>
                  </a:rPr>
                  <a:t>Padelezh</a:t>
                </a:r>
                <a:r>
                  <a:rPr lang="fr-FR" sz="1100" dirty="0">
                    <a:solidFill>
                      <a:schemeClr val="tx1"/>
                    </a:solidFill>
                  </a:rPr>
                  <a:t>            </a:t>
                </a:r>
                <a:r>
                  <a:rPr lang="fr-FR" sz="1400" dirty="0">
                    <a:solidFill>
                      <a:schemeClr val="tx1"/>
                    </a:solidFill>
                  </a:rPr>
                  <a:t>  </a:t>
                </a:r>
                <a:r>
                  <a:rPr lang="fr-FR" sz="1050" dirty="0">
                    <a:solidFill>
                      <a:schemeClr val="tx1"/>
                    </a:solidFill>
                  </a:rPr>
                  <a:t>min</a:t>
                </a:r>
              </a:p>
              <a:p>
                <a:endParaRPr lang="fr-FR" sz="1050" dirty="0">
                  <a:solidFill>
                    <a:schemeClr val="tx1"/>
                  </a:solidFill>
                </a:endParaRPr>
              </a:p>
              <a:p>
                <a:r>
                  <a:rPr lang="fr-FR" sz="1050" dirty="0" err="1">
                    <a:solidFill>
                      <a:schemeClr val="tx1"/>
                    </a:solidFill>
                  </a:rPr>
                  <a:t>Urabat</a:t>
                </a:r>
                <a:r>
                  <a:rPr lang="fr-FR" sz="105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Disonjal</a:t>
                </a:r>
                <a:r>
                  <a:rPr lang="fr-FR" sz="1050" dirty="0">
                    <a:solidFill>
                      <a:schemeClr val="tx1"/>
                    </a:solidFill>
                  </a:rPr>
                  <a:t> :</a:t>
                </a:r>
                <a:br>
                  <a:rPr lang="fr-FR" sz="1050" dirty="0">
                    <a:solidFill>
                      <a:schemeClr val="tx1"/>
                    </a:solidFill>
                  </a:rPr>
                </a:br>
                <a:r>
                  <a:rPr lang="fr-FR" sz="1100" b="1" dirty="0">
                    <a:solidFill>
                      <a:schemeClr val="tx1"/>
                    </a:solidFill>
                  </a:rPr>
                  <a:t>Phase 1 – adaptation volume</a:t>
                </a:r>
              </a:p>
              <a:p>
                <a:endParaRPr lang="fr-FR" sz="1100" b="1" dirty="0">
                  <a:solidFill>
                    <a:schemeClr val="tx1"/>
                  </a:solidFill>
                </a:endParaRPr>
              </a:p>
              <a:p>
                <a:r>
                  <a:rPr lang="fr-FR" sz="1050" dirty="0">
                    <a:solidFill>
                      <a:schemeClr val="tx1"/>
                    </a:solidFill>
                  </a:rPr>
                  <a:t>Résultats : </a:t>
                </a:r>
                <a:r>
                  <a:rPr lang="fr-FR" sz="1100" dirty="0">
                    <a:solidFill>
                      <a:schemeClr val="tx1"/>
                    </a:solidFill>
                  </a:rPr>
                  <a:t>à venir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ABDD5686-7301-08A9-CC78-A4454C0508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8903" y="4046706"/>
                <a:ext cx="1549940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5FB3BD13-FDDC-44E0-EBC3-FB68A96E1608}"/>
                </a:ext>
              </a:extLst>
            </p:cNvPr>
            <p:cNvSpPr/>
            <p:nvPr/>
          </p:nvSpPr>
          <p:spPr>
            <a:xfrm>
              <a:off x="2042809" y="3080838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45</a:t>
              </a:r>
            </a:p>
          </p:txBody>
        </p:sp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DF20E79B-07D3-E61C-DD97-72C7CF3D031A}"/>
                </a:ext>
              </a:extLst>
            </p:cNvPr>
            <p:cNvSpPr/>
            <p:nvPr/>
          </p:nvSpPr>
          <p:spPr>
            <a:xfrm>
              <a:off x="2610256" y="2581337"/>
              <a:ext cx="220494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C3069F77-9CE2-A9AB-AAB7-6122401473F4}"/>
                </a:ext>
              </a:extLst>
            </p:cNvPr>
            <p:cNvSpPr/>
            <p:nvPr/>
          </p:nvSpPr>
          <p:spPr>
            <a:xfrm>
              <a:off x="1750978" y="2581337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F6285102-3B3A-A0EC-9A3D-9C8C5E2E9C44}"/>
                </a:ext>
              </a:extLst>
            </p:cNvPr>
            <p:cNvSpPr/>
            <p:nvPr/>
          </p:nvSpPr>
          <p:spPr>
            <a:xfrm>
              <a:off x="2033081" y="2837235"/>
              <a:ext cx="220494" cy="201038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AB15E566-65F3-7CC5-555F-7CCD1631C59D}"/>
              </a:ext>
            </a:extLst>
          </p:cNvPr>
          <p:cNvGrpSpPr/>
          <p:nvPr/>
        </p:nvGrpSpPr>
        <p:grpSpPr>
          <a:xfrm>
            <a:off x="5246453" y="1705580"/>
            <a:ext cx="1712070" cy="3966029"/>
            <a:chOff x="1297021" y="1705581"/>
            <a:chExt cx="1712070" cy="3966029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89BC9CC7-A869-733E-8B71-873D0DC46655}"/>
                </a:ext>
              </a:extLst>
            </p:cNvPr>
            <p:cNvGrpSpPr/>
            <p:nvPr/>
          </p:nvGrpSpPr>
          <p:grpSpPr>
            <a:xfrm>
              <a:off x="1297021" y="1705581"/>
              <a:ext cx="1712070" cy="3966029"/>
              <a:chOff x="1277566" y="1705582"/>
              <a:chExt cx="1712070" cy="3966029"/>
            </a:xfrm>
          </p:grpSpPr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0697F389-07CF-2E66-AEF6-A7E0BE2E7C37}"/>
                  </a:ext>
                </a:extLst>
              </p:cNvPr>
              <p:cNvSpPr/>
              <p:nvPr/>
            </p:nvSpPr>
            <p:spPr>
              <a:xfrm>
                <a:off x="1277566" y="1705582"/>
                <a:ext cx="1712070" cy="3966029"/>
              </a:xfrm>
              <a:prstGeom prst="roundRect">
                <a:avLst>
                  <a:gd name="adj" fmla="val 4792"/>
                </a:avLst>
              </a:prstGeom>
              <a:solidFill>
                <a:schemeClr val="bg1">
                  <a:alpha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No. 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3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Type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Rein </a:t>
                </a:r>
                <a:r>
                  <a:rPr lang="fr-FR" sz="1600" b="1" dirty="0" err="1">
                    <a:solidFill>
                      <a:schemeClr val="tx1"/>
                    </a:solidFill>
                  </a:rPr>
                  <a:t>Bec’h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br>
                  <a:rPr lang="fr-FR" sz="1100" b="1" dirty="0">
                    <a:solidFill>
                      <a:schemeClr val="tx1"/>
                    </a:solidFill>
                  </a:rPr>
                </a:br>
                <a:r>
                  <a:rPr lang="fr-FR" sz="1000" dirty="0" err="1">
                    <a:solidFill>
                      <a:schemeClr val="tx1"/>
                    </a:solidFill>
                  </a:rPr>
                  <a:t>Nerzh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	</a:t>
                </a:r>
                <a:r>
                  <a:rPr lang="fr-FR" sz="1100" dirty="0" err="1">
                    <a:solidFill>
                      <a:schemeClr val="tx1"/>
                    </a:solidFill>
                  </a:rPr>
                  <a:t>Tizh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Adnerzhan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r>
                  <a:rPr lang="fr-FR" sz="1100" dirty="0" err="1">
                    <a:solidFill>
                      <a:schemeClr val="tx1"/>
                    </a:solidFill>
                  </a:rPr>
                  <a:t>Padelezh</a:t>
                </a:r>
                <a:r>
                  <a:rPr lang="fr-FR" sz="1100" dirty="0">
                    <a:solidFill>
                      <a:schemeClr val="tx1"/>
                    </a:solidFill>
                  </a:rPr>
                  <a:t>            </a:t>
                </a:r>
                <a:r>
                  <a:rPr lang="fr-FR" sz="1400" dirty="0">
                    <a:solidFill>
                      <a:schemeClr val="tx1"/>
                    </a:solidFill>
                  </a:rPr>
                  <a:t>  </a:t>
                </a:r>
                <a:r>
                  <a:rPr lang="fr-FR" sz="1050" dirty="0">
                    <a:solidFill>
                      <a:schemeClr val="tx1"/>
                    </a:solidFill>
                  </a:rPr>
                  <a:t>min</a:t>
                </a:r>
              </a:p>
              <a:p>
                <a:endParaRPr lang="fr-FR" sz="1050" dirty="0">
                  <a:solidFill>
                    <a:schemeClr val="tx1"/>
                  </a:solidFill>
                </a:endParaRPr>
              </a:p>
              <a:p>
                <a:r>
                  <a:rPr lang="fr-FR" sz="1050" dirty="0" err="1">
                    <a:solidFill>
                      <a:schemeClr val="tx1"/>
                    </a:solidFill>
                  </a:rPr>
                  <a:t>Urabat</a:t>
                </a:r>
                <a:r>
                  <a:rPr lang="fr-FR" sz="105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Disonjal</a:t>
                </a:r>
                <a:r>
                  <a:rPr lang="fr-FR" sz="1050" dirty="0">
                    <a:solidFill>
                      <a:schemeClr val="tx1"/>
                    </a:solidFill>
                  </a:rPr>
                  <a:t> :</a:t>
                </a:r>
                <a:br>
                  <a:rPr lang="fr-FR" sz="1050" dirty="0">
                    <a:solidFill>
                      <a:schemeClr val="tx1"/>
                    </a:solidFill>
                  </a:rPr>
                </a:br>
                <a:r>
                  <a:rPr lang="fr-FR" sz="1100" b="1" dirty="0">
                    <a:solidFill>
                      <a:schemeClr val="tx1"/>
                    </a:solidFill>
                  </a:rPr>
                  <a:t>Phase 1 – adaptation volume</a:t>
                </a:r>
              </a:p>
              <a:p>
                <a:endParaRPr lang="fr-FR" sz="1100" b="1" dirty="0">
                  <a:solidFill>
                    <a:schemeClr val="tx1"/>
                  </a:solidFill>
                </a:endParaRPr>
              </a:p>
              <a:p>
                <a:r>
                  <a:rPr lang="fr-FR" sz="1050" dirty="0">
                    <a:solidFill>
                      <a:schemeClr val="tx1"/>
                    </a:solidFill>
                  </a:rPr>
                  <a:t>Résultats : </a:t>
                </a:r>
                <a:r>
                  <a:rPr lang="fr-FR" sz="1100" dirty="0">
                    <a:solidFill>
                      <a:schemeClr val="tx1"/>
                    </a:solidFill>
                  </a:rPr>
                  <a:t>à venir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DCBA275D-C7CD-3DF7-463D-91BBF031AF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8903" y="4046706"/>
                <a:ext cx="1549940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7155781A-1026-807E-6470-B13A54269358}"/>
                </a:ext>
              </a:extLst>
            </p:cNvPr>
            <p:cNvSpPr/>
            <p:nvPr/>
          </p:nvSpPr>
          <p:spPr>
            <a:xfrm>
              <a:off x="2042809" y="3080838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45</a:t>
              </a:r>
            </a:p>
          </p:txBody>
        </p:sp>
        <p:sp>
          <p:nvSpPr>
            <p:cNvPr id="56" name="Rectangle : coins arrondis 55">
              <a:extLst>
                <a:ext uri="{FF2B5EF4-FFF2-40B4-BE49-F238E27FC236}">
                  <a16:creationId xmlns:a16="http://schemas.microsoft.com/office/drawing/2014/main" id="{723A0696-22D6-BC53-852B-E7F8B9DA7570}"/>
                </a:ext>
              </a:extLst>
            </p:cNvPr>
            <p:cNvSpPr/>
            <p:nvPr/>
          </p:nvSpPr>
          <p:spPr>
            <a:xfrm>
              <a:off x="2610256" y="2581337"/>
              <a:ext cx="220494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78A5B497-8A7C-8689-5EDE-B7841026B321}"/>
                </a:ext>
              </a:extLst>
            </p:cNvPr>
            <p:cNvSpPr/>
            <p:nvPr/>
          </p:nvSpPr>
          <p:spPr>
            <a:xfrm>
              <a:off x="1750978" y="2581337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6</a:t>
              </a:r>
            </a:p>
          </p:txBody>
        </p:sp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81D076A5-F9D0-AD87-5722-BA2FF3C54BB0}"/>
                </a:ext>
              </a:extLst>
            </p:cNvPr>
            <p:cNvSpPr/>
            <p:nvPr/>
          </p:nvSpPr>
          <p:spPr>
            <a:xfrm>
              <a:off x="2033081" y="2837235"/>
              <a:ext cx="220494" cy="201038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</a:t>
              </a: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09FBCB21-C012-13EF-B221-EACA9FFA95AF}"/>
              </a:ext>
            </a:extLst>
          </p:cNvPr>
          <p:cNvGrpSpPr/>
          <p:nvPr/>
        </p:nvGrpSpPr>
        <p:grpSpPr>
          <a:xfrm>
            <a:off x="7221169" y="1705580"/>
            <a:ext cx="1712070" cy="3966029"/>
            <a:chOff x="1297021" y="1705581"/>
            <a:chExt cx="1712070" cy="3966029"/>
          </a:xfrm>
        </p:grpSpPr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4AE9F8B2-4907-97F6-9237-7CD85CB21AA1}"/>
                </a:ext>
              </a:extLst>
            </p:cNvPr>
            <p:cNvGrpSpPr/>
            <p:nvPr/>
          </p:nvGrpSpPr>
          <p:grpSpPr>
            <a:xfrm>
              <a:off x="1297021" y="1705581"/>
              <a:ext cx="1712070" cy="3966029"/>
              <a:chOff x="1277566" y="1705582"/>
              <a:chExt cx="1712070" cy="3966029"/>
            </a:xfrm>
          </p:grpSpPr>
          <p:sp>
            <p:nvSpPr>
              <p:cNvPr id="67" name="Rectangle : coins arrondis 66">
                <a:extLst>
                  <a:ext uri="{FF2B5EF4-FFF2-40B4-BE49-F238E27FC236}">
                    <a16:creationId xmlns:a16="http://schemas.microsoft.com/office/drawing/2014/main" id="{68025B53-4255-C08E-90B5-28AA1E7C6E9D}"/>
                  </a:ext>
                </a:extLst>
              </p:cNvPr>
              <p:cNvSpPr/>
              <p:nvPr/>
            </p:nvSpPr>
            <p:spPr>
              <a:xfrm>
                <a:off x="1277566" y="1705582"/>
                <a:ext cx="1712070" cy="3966029"/>
              </a:xfrm>
              <a:prstGeom prst="roundRect">
                <a:avLst>
                  <a:gd name="adj" fmla="val 4792"/>
                </a:avLst>
              </a:prstGeom>
              <a:solidFill>
                <a:schemeClr val="bg1">
                  <a:alpha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No. 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4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Type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Rein </a:t>
                </a:r>
                <a:r>
                  <a:rPr lang="fr-FR" sz="1600" b="1" dirty="0" err="1">
                    <a:solidFill>
                      <a:schemeClr val="tx1"/>
                    </a:solidFill>
                  </a:rPr>
                  <a:t>Bec’h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br>
                  <a:rPr lang="fr-FR" sz="1100" b="1" dirty="0">
                    <a:solidFill>
                      <a:schemeClr val="tx1"/>
                    </a:solidFill>
                  </a:rPr>
                </a:br>
                <a:r>
                  <a:rPr lang="fr-FR" sz="1000" dirty="0" err="1">
                    <a:solidFill>
                      <a:schemeClr val="tx1"/>
                    </a:solidFill>
                  </a:rPr>
                  <a:t>Nerzh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	</a:t>
                </a:r>
                <a:r>
                  <a:rPr lang="fr-FR" sz="1100" dirty="0" err="1">
                    <a:solidFill>
                      <a:schemeClr val="tx1"/>
                    </a:solidFill>
                  </a:rPr>
                  <a:t>Tizh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Adnerzhan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r>
                  <a:rPr lang="fr-FR" sz="1100" dirty="0" err="1">
                    <a:solidFill>
                      <a:schemeClr val="tx1"/>
                    </a:solidFill>
                  </a:rPr>
                  <a:t>Padelezh</a:t>
                </a:r>
                <a:r>
                  <a:rPr lang="fr-FR" sz="1100" dirty="0">
                    <a:solidFill>
                      <a:schemeClr val="tx1"/>
                    </a:solidFill>
                  </a:rPr>
                  <a:t>            </a:t>
                </a:r>
                <a:r>
                  <a:rPr lang="fr-FR" sz="1400" dirty="0">
                    <a:solidFill>
                      <a:schemeClr val="tx1"/>
                    </a:solidFill>
                  </a:rPr>
                  <a:t>  </a:t>
                </a:r>
                <a:r>
                  <a:rPr lang="fr-FR" sz="1050" dirty="0">
                    <a:solidFill>
                      <a:schemeClr val="tx1"/>
                    </a:solidFill>
                  </a:rPr>
                  <a:t>min</a:t>
                </a:r>
              </a:p>
              <a:p>
                <a:endParaRPr lang="fr-FR" sz="1050" dirty="0">
                  <a:solidFill>
                    <a:schemeClr val="tx1"/>
                  </a:solidFill>
                </a:endParaRPr>
              </a:p>
              <a:p>
                <a:r>
                  <a:rPr lang="fr-FR" sz="1050" dirty="0" err="1">
                    <a:solidFill>
                      <a:schemeClr val="tx1"/>
                    </a:solidFill>
                  </a:rPr>
                  <a:t>Urabat</a:t>
                </a:r>
                <a:r>
                  <a:rPr lang="fr-FR" sz="105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Disonjal</a:t>
                </a:r>
                <a:r>
                  <a:rPr lang="fr-FR" sz="1050" dirty="0">
                    <a:solidFill>
                      <a:schemeClr val="tx1"/>
                    </a:solidFill>
                  </a:rPr>
                  <a:t> :</a:t>
                </a:r>
                <a:br>
                  <a:rPr lang="fr-FR" sz="1050" dirty="0">
                    <a:solidFill>
                      <a:schemeClr val="tx1"/>
                    </a:solidFill>
                  </a:rPr>
                </a:br>
                <a:r>
                  <a:rPr lang="fr-FR" sz="1100" b="1" dirty="0">
                    <a:solidFill>
                      <a:schemeClr val="tx1"/>
                    </a:solidFill>
                  </a:rPr>
                  <a:t>Phase 1 – adaptation volume</a:t>
                </a:r>
              </a:p>
              <a:p>
                <a:endParaRPr lang="fr-FR" sz="1100" b="1" dirty="0">
                  <a:solidFill>
                    <a:schemeClr val="tx1"/>
                  </a:solidFill>
                </a:endParaRPr>
              </a:p>
              <a:p>
                <a:r>
                  <a:rPr lang="fr-FR" sz="1050" dirty="0">
                    <a:solidFill>
                      <a:schemeClr val="tx1"/>
                    </a:solidFill>
                  </a:rPr>
                  <a:t>Résultats : </a:t>
                </a:r>
                <a:r>
                  <a:rPr lang="fr-FR" sz="1100" dirty="0">
                    <a:solidFill>
                      <a:schemeClr val="tx1"/>
                    </a:solidFill>
                  </a:rPr>
                  <a:t>à venir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8" name="Connecteur droit 67">
                <a:extLst>
                  <a:ext uri="{FF2B5EF4-FFF2-40B4-BE49-F238E27FC236}">
                    <a16:creationId xmlns:a16="http://schemas.microsoft.com/office/drawing/2014/main" id="{70BF5BE7-5F09-C9BF-71A8-8A30889A7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8903" y="4046706"/>
                <a:ext cx="1549940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 : coins arrondis 62">
              <a:extLst>
                <a:ext uri="{FF2B5EF4-FFF2-40B4-BE49-F238E27FC236}">
                  <a16:creationId xmlns:a16="http://schemas.microsoft.com/office/drawing/2014/main" id="{E8A59324-5419-075B-0FB9-F066FCAF380C}"/>
                </a:ext>
              </a:extLst>
            </p:cNvPr>
            <p:cNvSpPr/>
            <p:nvPr/>
          </p:nvSpPr>
          <p:spPr>
            <a:xfrm>
              <a:off x="2042809" y="3080838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45</a:t>
              </a:r>
            </a:p>
          </p:txBody>
        </p:sp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01A2D78B-8C82-4F75-8448-2E9BF57C21D8}"/>
                </a:ext>
              </a:extLst>
            </p:cNvPr>
            <p:cNvSpPr/>
            <p:nvPr/>
          </p:nvSpPr>
          <p:spPr>
            <a:xfrm>
              <a:off x="2610256" y="2581337"/>
              <a:ext cx="220494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6</a:t>
              </a:r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4455EE8B-DB7D-EBA1-B53B-CE16F52807C1}"/>
                </a:ext>
              </a:extLst>
            </p:cNvPr>
            <p:cNvSpPr/>
            <p:nvPr/>
          </p:nvSpPr>
          <p:spPr>
            <a:xfrm>
              <a:off x="1750978" y="2581337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6</a:t>
              </a:r>
            </a:p>
          </p:txBody>
        </p:sp>
        <p:sp>
          <p:nvSpPr>
            <p:cNvPr id="66" name="Rectangle : coins arrondis 65">
              <a:extLst>
                <a:ext uri="{FF2B5EF4-FFF2-40B4-BE49-F238E27FC236}">
                  <a16:creationId xmlns:a16="http://schemas.microsoft.com/office/drawing/2014/main" id="{96D3B156-55D0-4748-02E2-7385D37BCBA6}"/>
                </a:ext>
              </a:extLst>
            </p:cNvPr>
            <p:cNvSpPr/>
            <p:nvPr/>
          </p:nvSpPr>
          <p:spPr>
            <a:xfrm>
              <a:off x="2033081" y="2837235"/>
              <a:ext cx="220494" cy="201038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</a:t>
              </a:r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55058C26-82C1-CD2A-1822-E838DB15ADBD}"/>
              </a:ext>
            </a:extLst>
          </p:cNvPr>
          <p:cNvGrpSpPr/>
          <p:nvPr/>
        </p:nvGrpSpPr>
        <p:grpSpPr>
          <a:xfrm>
            <a:off x="9195883" y="1705580"/>
            <a:ext cx="1712070" cy="3966029"/>
            <a:chOff x="1297021" y="1705581"/>
            <a:chExt cx="1712070" cy="3966029"/>
          </a:xfrm>
        </p:grpSpPr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B066D980-9AE2-7E46-08F3-04A956EC715A}"/>
                </a:ext>
              </a:extLst>
            </p:cNvPr>
            <p:cNvGrpSpPr/>
            <p:nvPr/>
          </p:nvGrpSpPr>
          <p:grpSpPr>
            <a:xfrm>
              <a:off x="1297021" y="1705581"/>
              <a:ext cx="1712070" cy="3966029"/>
              <a:chOff x="1277566" y="1705582"/>
              <a:chExt cx="1712070" cy="3966029"/>
            </a:xfrm>
          </p:grpSpPr>
          <p:sp>
            <p:nvSpPr>
              <p:cNvPr id="75" name="Rectangle : coins arrondis 74">
                <a:extLst>
                  <a:ext uri="{FF2B5EF4-FFF2-40B4-BE49-F238E27FC236}">
                    <a16:creationId xmlns:a16="http://schemas.microsoft.com/office/drawing/2014/main" id="{D8CBD13B-2FBA-D986-80BD-F86675497DC9}"/>
                  </a:ext>
                </a:extLst>
              </p:cNvPr>
              <p:cNvSpPr/>
              <p:nvPr/>
            </p:nvSpPr>
            <p:spPr>
              <a:xfrm>
                <a:off x="1277566" y="1705582"/>
                <a:ext cx="1712070" cy="3966029"/>
              </a:xfrm>
              <a:prstGeom prst="roundRect">
                <a:avLst>
                  <a:gd name="adj" fmla="val 4792"/>
                </a:avLst>
              </a:prstGeom>
              <a:solidFill>
                <a:schemeClr val="bg1">
                  <a:alpha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No. 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5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Type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Rein </a:t>
                </a:r>
                <a:r>
                  <a:rPr lang="fr-FR" sz="1600" b="1" dirty="0" err="1">
                    <a:solidFill>
                      <a:schemeClr val="tx1"/>
                    </a:solidFill>
                  </a:rPr>
                  <a:t>Bec’h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br>
                  <a:rPr lang="fr-FR" sz="1100" b="1" dirty="0">
                    <a:solidFill>
                      <a:schemeClr val="tx1"/>
                    </a:solidFill>
                  </a:rPr>
                </a:br>
                <a:r>
                  <a:rPr lang="fr-FR" sz="1000" dirty="0" err="1">
                    <a:solidFill>
                      <a:schemeClr val="tx1"/>
                    </a:solidFill>
                  </a:rPr>
                  <a:t>Nerzh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	</a:t>
                </a:r>
                <a:r>
                  <a:rPr lang="fr-FR" sz="1100" dirty="0" err="1">
                    <a:solidFill>
                      <a:schemeClr val="tx1"/>
                    </a:solidFill>
                  </a:rPr>
                  <a:t>Tizh</a:t>
                </a:r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Adnerzhan</a:t>
                </a:r>
                <a:endParaRPr lang="fr-FR" sz="16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5000"/>
                  </a:lnSpc>
                </a:pPr>
                <a:r>
                  <a:rPr lang="fr-FR" sz="1100" dirty="0" err="1">
                    <a:solidFill>
                      <a:schemeClr val="tx1"/>
                    </a:solidFill>
                  </a:rPr>
                  <a:t>Padelezh</a:t>
                </a:r>
                <a:r>
                  <a:rPr lang="fr-FR" sz="1100" dirty="0">
                    <a:solidFill>
                      <a:schemeClr val="tx1"/>
                    </a:solidFill>
                  </a:rPr>
                  <a:t>            </a:t>
                </a:r>
                <a:r>
                  <a:rPr lang="fr-FR" sz="1400" dirty="0">
                    <a:solidFill>
                      <a:schemeClr val="tx1"/>
                    </a:solidFill>
                  </a:rPr>
                  <a:t>  </a:t>
                </a:r>
                <a:r>
                  <a:rPr lang="fr-FR" sz="1050" dirty="0">
                    <a:solidFill>
                      <a:schemeClr val="tx1"/>
                    </a:solidFill>
                  </a:rPr>
                  <a:t>min</a:t>
                </a:r>
              </a:p>
              <a:p>
                <a:endParaRPr lang="fr-FR" sz="1050" dirty="0">
                  <a:solidFill>
                    <a:schemeClr val="tx1"/>
                  </a:solidFill>
                </a:endParaRPr>
              </a:p>
              <a:p>
                <a:r>
                  <a:rPr lang="fr-FR" sz="1050" dirty="0" err="1">
                    <a:solidFill>
                      <a:schemeClr val="tx1"/>
                    </a:solidFill>
                  </a:rPr>
                  <a:t>Urabat</a:t>
                </a:r>
                <a:r>
                  <a:rPr lang="fr-FR" sz="1050" dirty="0">
                    <a:solidFill>
                      <a:schemeClr val="tx1"/>
                    </a:solidFill>
                  </a:rPr>
                  <a:t> </a:t>
                </a:r>
                <a:r>
                  <a:rPr lang="fr-FR" sz="1050" dirty="0" err="1">
                    <a:solidFill>
                      <a:schemeClr val="tx1"/>
                    </a:solidFill>
                  </a:rPr>
                  <a:t>Disonjal</a:t>
                </a:r>
                <a:r>
                  <a:rPr lang="fr-FR" sz="1050" dirty="0">
                    <a:solidFill>
                      <a:schemeClr val="tx1"/>
                    </a:solidFill>
                  </a:rPr>
                  <a:t> :</a:t>
                </a:r>
                <a:br>
                  <a:rPr lang="fr-FR" sz="1050" dirty="0">
                    <a:solidFill>
                      <a:schemeClr val="tx1"/>
                    </a:solidFill>
                  </a:rPr>
                </a:br>
                <a:r>
                  <a:rPr lang="fr-FR" sz="1100" b="1" dirty="0">
                    <a:solidFill>
                      <a:schemeClr val="tx1"/>
                    </a:solidFill>
                  </a:rPr>
                  <a:t>Phase 2 – recherche d’</a:t>
                </a:r>
                <a:r>
                  <a:rPr lang="fr-FR" sz="1100" b="1" dirty="0" err="1">
                    <a:solidFill>
                      <a:schemeClr val="tx1"/>
                    </a:solidFill>
                  </a:rPr>
                  <a:t>andurance</a:t>
                </a:r>
                <a:endParaRPr lang="fr-FR" sz="1100" b="1" dirty="0">
                  <a:solidFill>
                    <a:schemeClr val="tx1"/>
                  </a:solidFill>
                </a:endParaRPr>
              </a:p>
              <a:p>
                <a:endParaRPr lang="fr-FR" sz="1100" b="1" dirty="0">
                  <a:solidFill>
                    <a:schemeClr val="tx1"/>
                  </a:solidFill>
                </a:endParaRPr>
              </a:p>
              <a:p>
                <a:r>
                  <a:rPr lang="fr-FR" sz="1050" dirty="0">
                    <a:solidFill>
                      <a:schemeClr val="tx1"/>
                    </a:solidFill>
                  </a:rPr>
                  <a:t>Résultats : </a:t>
                </a:r>
                <a:r>
                  <a:rPr lang="fr-FR" sz="1100" dirty="0">
                    <a:solidFill>
                      <a:schemeClr val="tx1"/>
                    </a:solidFill>
                  </a:rPr>
                  <a:t>à venir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45FE5594-C4F1-C8DA-6506-BBE558D57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8903" y="4046706"/>
                <a:ext cx="1549940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7A4BAFD4-2DB9-511C-E650-2885392A19B0}"/>
                </a:ext>
              </a:extLst>
            </p:cNvPr>
            <p:cNvSpPr/>
            <p:nvPr/>
          </p:nvSpPr>
          <p:spPr>
            <a:xfrm>
              <a:off x="2042809" y="3080838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60</a:t>
              </a:r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CCC2930-4480-2433-CEC6-CD6997856B09}"/>
                </a:ext>
              </a:extLst>
            </p:cNvPr>
            <p:cNvSpPr/>
            <p:nvPr/>
          </p:nvSpPr>
          <p:spPr>
            <a:xfrm>
              <a:off x="2610256" y="2581337"/>
              <a:ext cx="220494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CE72DC54-DE30-C66E-6A3A-96DBA55008FE}"/>
                </a:ext>
              </a:extLst>
            </p:cNvPr>
            <p:cNvSpPr/>
            <p:nvPr/>
          </p:nvSpPr>
          <p:spPr>
            <a:xfrm>
              <a:off x="1750978" y="2581337"/>
              <a:ext cx="220494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</a:t>
              </a:r>
            </a:p>
          </p:txBody>
        </p:sp>
        <p:sp>
          <p:nvSpPr>
            <p:cNvPr id="74" name="Rectangle : coins arrondis 73">
              <a:extLst>
                <a:ext uri="{FF2B5EF4-FFF2-40B4-BE49-F238E27FC236}">
                  <a16:creationId xmlns:a16="http://schemas.microsoft.com/office/drawing/2014/main" id="{92C815E1-9BEB-4AA7-6C9C-58CE0635CFDB}"/>
                </a:ext>
              </a:extLst>
            </p:cNvPr>
            <p:cNvSpPr/>
            <p:nvPr/>
          </p:nvSpPr>
          <p:spPr>
            <a:xfrm>
              <a:off x="2033081" y="2837235"/>
              <a:ext cx="220494" cy="201038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654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F922-0888-0674-AB51-D7E10AEE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AD26827-602A-B3EF-1A7E-FE85091379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" y="615693"/>
            <a:ext cx="10079736" cy="562660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265BCD5-CE08-706A-0683-B8BF57DA8A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" b="8659"/>
          <a:stretch>
            <a:fillRect/>
          </a:stretch>
        </p:blipFill>
        <p:spPr>
          <a:xfrm>
            <a:off x="1056132" y="1102906"/>
            <a:ext cx="10079736" cy="46521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53BDEC-1CB2-24A6-8BD6-E73E696A5320}"/>
              </a:ext>
            </a:extLst>
          </p:cNvPr>
          <p:cNvSpPr>
            <a:spLocks noChangeAspect="1"/>
          </p:cNvSpPr>
          <p:nvPr/>
        </p:nvSpPr>
        <p:spPr>
          <a:xfrm rot="16200000">
            <a:off x="3769907" y="-1610869"/>
            <a:ext cx="4652187" cy="100797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B5BDB64-5E51-363D-FBE6-C5DDE387B5B8}"/>
              </a:ext>
            </a:extLst>
          </p:cNvPr>
          <p:cNvSpPr/>
          <p:nvPr/>
        </p:nvSpPr>
        <p:spPr>
          <a:xfrm>
            <a:off x="129702" y="58366"/>
            <a:ext cx="11952051" cy="3761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Session, en position </a:t>
            </a:r>
            <a:r>
              <a:rPr lang="fr-FR" b="1" dirty="0"/>
              <a:t>Paysage </a:t>
            </a:r>
            <a:r>
              <a:rPr lang="fr-FR" b="1" u="sng" dirty="0"/>
              <a:t>uniquement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C0B778B-9256-4DF1-23FF-2550F4AB98E7}"/>
              </a:ext>
            </a:extLst>
          </p:cNvPr>
          <p:cNvCxnSpPr>
            <a:cxnSpLocks/>
          </p:cNvCxnSpPr>
          <p:nvPr/>
        </p:nvCxnSpPr>
        <p:spPr>
          <a:xfrm>
            <a:off x="5732834" y="3787109"/>
            <a:ext cx="1549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56C1220E-E770-F665-1AB7-8EC1DEC13978}"/>
              </a:ext>
            </a:extLst>
          </p:cNvPr>
          <p:cNvSpPr>
            <a:spLocks noChangeAspect="1"/>
          </p:cNvSpPr>
          <p:nvPr/>
        </p:nvSpPr>
        <p:spPr>
          <a:xfrm>
            <a:off x="8868367" y="1953266"/>
            <a:ext cx="2088000" cy="2088000"/>
          </a:xfrm>
          <a:prstGeom prst="ellipse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0000"/>
                </a:schemeClr>
              </a:gs>
              <a:gs pos="50000">
                <a:schemeClr val="accent6">
                  <a:lumMod val="90000"/>
                  <a:alpha val="80000"/>
                </a:schemeClr>
              </a:gs>
              <a:gs pos="100000">
                <a:schemeClr val="accent6">
                  <a:lumMod val="75000"/>
                  <a:alpha val="80000"/>
                </a:schemeClr>
              </a:gs>
            </a:gsLst>
          </a:gradFill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0" dirty="0">
                <a:solidFill>
                  <a:schemeClr val="accent6">
                    <a:lumMod val="25000"/>
                  </a:schemeClr>
                </a:solidFill>
              </a:rPr>
              <a:t>27</a:t>
            </a:r>
          </a:p>
          <a:p>
            <a:pPr algn="ctr"/>
            <a:r>
              <a:rPr lang="fr-FR" dirty="0" err="1">
                <a:solidFill>
                  <a:schemeClr val="accent6">
                    <a:lumMod val="25000"/>
                  </a:schemeClr>
                </a:solidFill>
              </a:rPr>
              <a:t>Riw</a:t>
            </a:r>
            <a:r>
              <a:rPr lang="fr-FR" dirty="0">
                <a:solidFill>
                  <a:schemeClr val="accent6">
                    <a:lumMod val="25000"/>
                  </a:schemeClr>
                </a:solidFill>
              </a:rPr>
              <a:t> / min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55CD65B-31E7-DF55-E101-9A42C6CE8615}"/>
              </a:ext>
            </a:extLst>
          </p:cNvPr>
          <p:cNvSpPr/>
          <p:nvPr/>
        </p:nvSpPr>
        <p:spPr>
          <a:xfrm>
            <a:off x="8806657" y="4141813"/>
            <a:ext cx="2211421" cy="805803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fr-FR" sz="4400" dirty="0">
                <a:solidFill>
                  <a:srgbClr val="0000FF"/>
                </a:solidFill>
              </a:rPr>
              <a:t>00:32:53</a:t>
            </a:r>
          </a:p>
          <a:p>
            <a:pPr algn="ctr"/>
            <a:r>
              <a:rPr lang="fr-FR" sz="1100" dirty="0" err="1">
                <a:solidFill>
                  <a:srgbClr val="0000FF"/>
                </a:solidFill>
              </a:rPr>
              <a:t>hh:min:ss</a:t>
            </a:r>
            <a:endParaRPr lang="fr-FR" sz="1100" dirty="0">
              <a:solidFill>
                <a:srgbClr val="0000FF"/>
              </a:solidFill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33D7AF1F-8EE8-B137-156A-0EA3822FD365}"/>
              </a:ext>
            </a:extLst>
          </p:cNvPr>
          <p:cNvGrpSpPr/>
          <p:nvPr/>
        </p:nvGrpSpPr>
        <p:grpSpPr>
          <a:xfrm>
            <a:off x="3547349" y="1225491"/>
            <a:ext cx="7497258" cy="648701"/>
            <a:chOff x="3547349" y="1225491"/>
            <a:chExt cx="7295749" cy="648701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CF549BCD-FBE4-4FE2-2E32-8BB5B7BB76DB}"/>
                </a:ext>
              </a:extLst>
            </p:cNvPr>
            <p:cNvSpPr/>
            <p:nvPr/>
          </p:nvSpPr>
          <p:spPr>
            <a:xfrm>
              <a:off x="3547349" y="1225491"/>
              <a:ext cx="7295749" cy="648701"/>
            </a:xfrm>
            <a:prstGeom prst="roundRect">
              <a:avLst>
                <a:gd name="adj" fmla="val 4792"/>
              </a:avLst>
            </a:prstGeom>
            <a:solidFill>
              <a:schemeClr val="bg1">
                <a:alpha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defTabSz="358775"/>
              <a:r>
                <a:rPr lang="fr-FR" sz="1600" dirty="0">
                  <a:solidFill>
                    <a:schemeClr val="tx1"/>
                  </a:solidFill>
                </a:rPr>
                <a:t>No.  </a:t>
              </a:r>
              <a:r>
                <a:rPr lang="fr-FR" sz="2000" b="1" dirty="0">
                  <a:solidFill>
                    <a:schemeClr val="tx1"/>
                  </a:solidFill>
                </a:rPr>
                <a:t>14  </a:t>
              </a:r>
              <a:r>
                <a:rPr lang="fr-FR" sz="800" dirty="0" err="1">
                  <a:solidFill>
                    <a:schemeClr val="tx1"/>
                  </a:solidFill>
                </a:rPr>
                <a:t>Nerzh</a:t>
              </a:r>
              <a:r>
                <a:rPr lang="fr-FR" sz="800" dirty="0">
                  <a:solidFill>
                    <a:schemeClr val="tx1"/>
                  </a:solidFill>
                </a:rPr>
                <a:t> </a:t>
              </a:r>
              <a:r>
                <a:rPr lang="fr-FR" sz="800" dirty="0" err="1">
                  <a:solidFill>
                    <a:schemeClr val="tx1"/>
                  </a:solidFill>
                </a:rPr>
                <a:t>Keitad</a:t>
              </a:r>
              <a:r>
                <a:rPr lang="fr-FR" sz="800" dirty="0">
                  <a:solidFill>
                    <a:schemeClr val="tx1"/>
                  </a:solidFill>
                </a:rPr>
                <a:t>	</a:t>
              </a:r>
              <a:r>
                <a:rPr lang="fr-FR" sz="800" b="1" dirty="0">
                  <a:solidFill>
                    <a:schemeClr val="tx1"/>
                  </a:solidFill>
                </a:rPr>
                <a:t>	</a:t>
              </a:r>
              <a:r>
                <a:rPr lang="fr-FR" sz="800" dirty="0" err="1">
                  <a:solidFill>
                    <a:schemeClr val="tx1"/>
                  </a:solidFill>
                </a:rPr>
                <a:t>Tizh</a:t>
              </a:r>
              <a:r>
                <a:rPr lang="fr-FR" sz="800" dirty="0">
                  <a:solidFill>
                    <a:schemeClr val="tx1"/>
                  </a:solidFill>
                </a:rPr>
                <a:t> </a:t>
              </a:r>
              <a:r>
                <a:rPr lang="fr-FR" sz="800" dirty="0" err="1">
                  <a:solidFill>
                    <a:schemeClr val="tx1"/>
                  </a:solidFill>
                </a:rPr>
                <a:t>Keitad</a:t>
              </a:r>
              <a:r>
                <a:rPr lang="fr-FR" sz="800" dirty="0">
                  <a:solidFill>
                    <a:schemeClr val="tx1"/>
                  </a:solidFill>
                </a:rPr>
                <a:t> 	      </a:t>
              </a:r>
              <a:r>
                <a:rPr lang="fr-FR" sz="800" dirty="0" err="1">
                  <a:solidFill>
                    <a:schemeClr val="tx1"/>
                  </a:solidFill>
                </a:rPr>
                <a:t>Riw</a:t>
              </a:r>
              <a:r>
                <a:rPr lang="fr-FR" sz="800" dirty="0">
                  <a:solidFill>
                    <a:schemeClr val="tx1"/>
                  </a:solidFill>
                </a:rPr>
                <a:t> / min	</a:t>
              </a:r>
              <a:r>
                <a:rPr lang="fr-FR" sz="800" dirty="0" err="1">
                  <a:solidFill>
                    <a:schemeClr val="tx1"/>
                  </a:solidFill>
                </a:rPr>
                <a:t>Padelezh</a:t>
              </a:r>
              <a:r>
                <a:rPr lang="fr-FR" sz="800" b="1" dirty="0">
                  <a:solidFill>
                    <a:schemeClr val="tx1"/>
                  </a:solidFill>
                </a:rPr>
                <a:t>                         </a:t>
              </a:r>
              <a:r>
                <a:rPr lang="fr-FR" sz="800" dirty="0" err="1">
                  <a:solidFill>
                    <a:schemeClr val="tx1"/>
                  </a:solidFill>
                </a:rPr>
                <a:t>min:ss</a:t>
              </a:r>
              <a:r>
                <a:rPr lang="fr-FR" sz="800" dirty="0">
                  <a:solidFill>
                    <a:schemeClr val="tx1"/>
                  </a:solidFill>
                </a:rPr>
                <a:t>	</a:t>
              </a:r>
              <a:r>
                <a:rPr lang="fr-FR" sz="800" dirty="0" err="1">
                  <a:solidFill>
                    <a:schemeClr val="tx1"/>
                  </a:solidFill>
                </a:rPr>
                <a:t>Pellder</a:t>
              </a:r>
              <a:r>
                <a:rPr lang="fr-FR" sz="800" dirty="0">
                  <a:solidFill>
                    <a:schemeClr val="tx1"/>
                  </a:solidFill>
                </a:rPr>
                <a:t> </a:t>
              </a:r>
              <a:r>
                <a:rPr lang="fr-FR" sz="800" b="1" dirty="0">
                  <a:solidFill>
                    <a:schemeClr val="tx1"/>
                  </a:solidFill>
                </a:rPr>
                <a:t>                         </a:t>
              </a:r>
              <a:r>
                <a:rPr lang="fr-FR" sz="800" dirty="0">
                  <a:solidFill>
                    <a:schemeClr val="tx1"/>
                  </a:solidFill>
                </a:rPr>
                <a:t>km</a:t>
              </a:r>
              <a:r>
                <a:rPr lang="fr-FR" sz="800" b="1" dirty="0">
                  <a:solidFill>
                    <a:schemeClr val="tx1"/>
                  </a:solidFill>
                </a:rPr>
                <a:t> 		</a:t>
              </a:r>
              <a:r>
                <a:rPr lang="fr-FR" sz="800" dirty="0" err="1">
                  <a:solidFill>
                    <a:schemeClr val="tx1"/>
                  </a:solidFill>
                </a:rPr>
                <a:t>Energiezh</a:t>
              </a:r>
              <a:r>
                <a:rPr lang="fr-FR" sz="800" dirty="0">
                  <a:solidFill>
                    <a:schemeClr val="tx1"/>
                  </a:solidFill>
                </a:rPr>
                <a:t> </a:t>
              </a:r>
              <a:r>
                <a:rPr lang="fr-FR" sz="800" b="1" dirty="0">
                  <a:solidFill>
                    <a:schemeClr val="tx1"/>
                  </a:solidFill>
                </a:rPr>
                <a:t>                        </a:t>
              </a:r>
              <a:r>
                <a:rPr lang="fr-FR" sz="800" dirty="0">
                  <a:solidFill>
                    <a:schemeClr val="tx1"/>
                  </a:solidFill>
                </a:rPr>
                <a:t>kcal </a:t>
              </a:r>
              <a:r>
                <a:rPr lang="fr-FR" sz="800" b="1" dirty="0">
                  <a:solidFill>
                    <a:schemeClr val="tx1"/>
                  </a:solidFill>
                </a:rPr>
                <a:t>	</a:t>
              </a:r>
            </a:p>
            <a:p>
              <a:pPr defTabSz="600075"/>
              <a:r>
                <a:rPr lang="fr-FR" sz="800" dirty="0">
                  <a:solidFill>
                    <a:schemeClr val="tx1"/>
                  </a:solidFill>
                </a:rPr>
                <a:t>Kalon : </a:t>
              </a:r>
              <a:r>
                <a:rPr lang="fr-FR" sz="800" b="1" dirty="0">
                  <a:solidFill>
                    <a:schemeClr val="tx1"/>
                  </a:solidFill>
                </a:rPr>
                <a:t>105 – 120 bpm	</a:t>
              </a:r>
              <a:r>
                <a:rPr lang="fr-FR" sz="800" dirty="0" err="1">
                  <a:solidFill>
                    <a:schemeClr val="tx1"/>
                  </a:solidFill>
                </a:rPr>
                <a:t>Kemenn</a:t>
              </a:r>
              <a:r>
                <a:rPr lang="fr-FR" sz="800" dirty="0">
                  <a:solidFill>
                    <a:schemeClr val="tx1"/>
                  </a:solidFill>
                </a:rPr>
                <a:t> : </a:t>
              </a:r>
              <a:r>
                <a:rPr lang="fr-FR" sz="800" b="1" dirty="0">
                  <a:solidFill>
                    <a:schemeClr val="tx1"/>
                  </a:solidFill>
                </a:rPr>
                <a:t>Récupération Dynamique</a:t>
              </a:r>
              <a:br>
                <a:rPr lang="fr-FR" sz="2000" b="1" dirty="0">
                  <a:solidFill>
                    <a:schemeClr val="tx1"/>
                  </a:solidFill>
                </a:rPr>
              </a:br>
              <a:endParaRPr lang="fr-FR" sz="2000" b="1" dirty="0">
                <a:solidFill>
                  <a:schemeClr val="tx1"/>
                </a:solidFill>
              </a:endParaRPr>
            </a:p>
            <a:p>
              <a:endParaRPr lang="fr-F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AD670B14-6BC5-90E0-9BE2-4256E496FCBC}"/>
                </a:ext>
              </a:extLst>
            </p:cNvPr>
            <p:cNvSpPr/>
            <p:nvPr/>
          </p:nvSpPr>
          <p:spPr>
            <a:xfrm>
              <a:off x="7150821" y="1348803"/>
              <a:ext cx="432000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2:35</a:t>
              </a:r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5A02698F-E385-41F6-E57E-6D425B90090F}"/>
                </a:ext>
              </a:extLst>
            </p:cNvPr>
            <p:cNvSpPr/>
            <p:nvPr/>
          </p:nvSpPr>
          <p:spPr>
            <a:xfrm>
              <a:off x="5831002" y="1348803"/>
              <a:ext cx="288000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26</a:t>
              </a: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B291B82E-6EBB-8371-D580-E8AF1F2A54AD}"/>
                </a:ext>
              </a:extLst>
            </p:cNvPr>
            <p:cNvSpPr/>
            <p:nvPr/>
          </p:nvSpPr>
          <p:spPr>
            <a:xfrm>
              <a:off x="4943349" y="1348803"/>
              <a:ext cx="288000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5,5</a:t>
              </a:r>
            </a:p>
          </p:txBody>
        </p:sp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2ABD40EE-274F-F871-C594-5DDD9ABB2569}"/>
                </a:ext>
              </a:extLst>
            </p:cNvPr>
            <p:cNvSpPr/>
            <p:nvPr/>
          </p:nvSpPr>
          <p:spPr>
            <a:xfrm>
              <a:off x="8482002" y="1348803"/>
              <a:ext cx="432000" cy="201038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6,31</a:t>
              </a:r>
            </a:p>
          </p:txBody>
        </p:sp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11FA7778-3647-EE05-C90C-DCF7CBA481E9}"/>
                </a:ext>
              </a:extLst>
            </p:cNvPr>
            <p:cNvSpPr/>
            <p:nvPr/>
          </p:nvSpPr>
          <p:spPr>
            <a:xfrm>
              <a:off x="9968892" y="1348803"/>
              <a:ext cx="432000" cy="201038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125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6381915-BEBA-35DF-E5E0-79DF95953C27}"/>
              </a:ext>
            </a:extLst>
          </p:cNvPr>
          <p:cNvGrpSpPr/>
          <p:nvPr/>
        </p:nvGrpSpPr>
        <p:grpSpPr>
          <a:xfrm>
            <a:off x="3547349" y="5009272"/>
            <a:ext cx="7497258" cy="648701"/>
            <a:chOff x="3547349" y="1225491"/>
            <a:chExt cx="7295749" cy="648701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E563D97E-30DE-E82D-2536-6A0961B3C7A3}"/>
                </a:ext>
              </a:extLst>
            </p:cNvPr>
            <p:cNvSpPr/>
            <p:nvPr/>
          </p:nvSpPr>
          <p:spPr>
            <a:xfrm>
              <a:off x="3547349" y="1225491"/>
              <a:ext cx="7295749" cy="648701"/>
            </a:xfrm>
            <a:prstGeom prst="roundRect">
              <a:avLst>
                <a:gd name="adj" fmla="val 4792"/>
              </a:avLst>
            </a:prstGeom>
            <a:solidFill>
              <a:schemeClr val="bg1">
                <a:alpha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defTabSz="358775"/>
              <a:r>
                <a:rPr lang="fr-FR" sz="1600" dirty="0">
                  <a:solidFill>
                    <a:schemeClr val="tx1"/>
                  </a:solidFill>
                </a:rPr>
                <a:t>No.  </a:t>
              </a:r>
              <a:r>
                <a:rPr lang="fr-FR" sz="2000" b="1" dirty="0">
                  <a:solidFill>
                    <a:schemeClr val="tx1"/>
                  </a:solidFill>
                </a:rPr>
                <a:t>16  </a:t>
              </a:r>
              <a:r>
                <a:rPr lang="fr-FR" sz="800" dirty="0" err="1">
                  <a:solidFill>
                    <a:schemeClr val="tx1"/>
                  </a:solidFill>
                </a:rPr>
                <a:t>Nerzh</a:t>
              </a:r>
              <a:r>
                <a:rPr lang="fr-FR" sz="800" dirty="0">
                  <a:solidFill>
                    <a:schemeClr val="tx1"/>
                  </a:solidFill>
                </a:rPr>
                <a:t> 	</a:t>
              </a:r>
              <a:r>
                <a:rPr lang="fr-FR" sz="800" b="1" dirty="0">
                  <a:solidFill>
                    <a:schemeClr val="tx1"/>
                  </a:solidFill>
                </a:rPr>
                <a:t>		</a:t>
              </a:r>
              <a:r>
                <a:rPr lang="fr-FR" sz="800" dirty="0" err="1">
                  <a:solidFill>
                    <a:schemeClr val="tx1"/>
                  </a:solidFill>
                </a:rPr>
                <a:t>Tizh</a:t>
              </a:r>
              <a:r>
                <a:rPr lang="fr-FR" sz="800" dirty="0">
                  <a:solidFill>
                    <a:schemeClr val="tx1"/>
                  </a:solidFill>
                </a:rPr>
                <a:t>  	         </a:t>
              </a:r>
              <a:r>
                <a:rPr lang="fr-FR" sz="800" dirty="0" err="1">
                  <a:solidFill>
                    <a:schemeClr val="tx1"/>
                  </a:solidFill>
                </a:rPr>
                <a:t>Riw</a:t>
              </a:r>
              <a:r>
                <a:rPr lang="fr-FR" sz="800" dirty="0">
                  <a:solidFill>
                    <a:schemeClr val="tx1"/>
                  </a:solidFill>
                </a:rPr>
                <a:t> / min		</a:t>
              </a:r>
              <a:r>
                <a:rPr lang="fr-FR" sz="800" dirty="0" err="1">
                  <a:solidFill>
                    <a:schemeClr val="tx1"/>
                  </a:solidFill>
                </a:rPr>
                <a:t>Padelezh</a:t>
              </a:r>
              <a:r>
                <a:rPr lang="fr-FR" sz="800" b="1" dirty="0">
                  <a:solidFill>
                    <a:schemeClr val="tx1"/>
                  </a:solidFill>
                </a:rPr>
                <a:t>                         </a:t>
              </a:r>
              <a:r>
                <a:rPr lang="fr-FR" sz="800" dirty="0" err="1">
                  <a:solidFill>
                    <a:schemeClr val="tx1"/>
                  </a:solidFill>
                </a:rPr>
                <a:t>min:ss</a:t>
              </a:r>
              <a:r>
                <a:rPr lang="fr-FR" sz="800" b="1" dirty="0">
                  <a:solidFill>
                    <a:schemeClr val="tx1"/>
                  </a:solidFill>
                </a:rPr>
                <a:t>	</a:t>
              </a:r>
            </a:p>
            <a:p>
              <a:pPr defTabSz="600075"/>
              <a:r>
                <a:rPr lang="fr-FR" sz="800" dirty="0">
                  <a:solidFill>
                    <a:schemeClr val="tx1"/>
                  </a:solidFill>
                </a:rPr>
                <a:t>Kalon : </a:t>
              </a:r>
              <a:r>
                <a:rPr lang="fr-FR" sz="800" b="1" dirty="0">
                  <a:solidFill>
                    <a:schemeClr val="tx1"/>
                  </a:solidFill>
                </a:rPr>
                <a:t>105 – 120 bpm	</a:t>
              </a:r>
              <a:r>
                <a:rPr lang="fr-FR" sz="800" dirty="0" err="1">
                  <a:solidFill>
                    <a:schemeClr val="tx1"/>
                  </a:solidFill>
                </a:rPr>
                <a:t>Kemenn</a:t>
              </a:r>
              <a:r>
                <a:rPr lang="fr-FR" sz="800" dirty="0">
                  <a:solidFill>
                    <a:schemeClr val="tx1"/>
                  </a:solidFill>
                </a:rPr>
                <a:t> : </a:t>
              </a:r>
              <a:r>
                <a:rPr lang="fr-FR" sz="800" b="1" dirty="0">
                  <a:solidFill>
                    <a:schemeClr val="tx1"/>
                  </a:solidFill>
                </a:rPr>
                <a:t>Récupération Dynamique</a:t>
              </a:r>
              <a:br>
                <a:rPr lang="fr-FR" sz="2000" b="1" dirty="0">
                  <a:solidFill>
                    <a:schemeClr val="tx1"/>
                  </a:solidFill>
                </a:rPr>
              </a:br>
              <a:endParaRPr lang="fr-FR" sz="2000" b="1" dirty="0">
                <a:solidFill>
                  <a:schemeClr val="tx1"/>
                </a:solidFill>
              </a:endParaRPr>
            </a:p>
            <a:p>
              <a:endParaRPr lang="fr-F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DDB2DB91-EC0B-2C09-7F2D-079EA7884B46}"/>
                </a:ext>
              </a:extLst>
            </p:cNvPr>
            <p:cNvSpPr/>
            <p:nvPr/>
          </p:nvSpPr>
          <p:spPr>
            <a:xfrm>
              <a:off x="7150821" y="1348803"/>
              <a:ext cx="432000" cy="20103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2:35</a:t>
              </a:r>
            </a:p>
          </p:txBody>
        </p:sp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FC090520-CF6B-84F2-EDEA-23D43855CC83}"/>
                </a:ext>
              </a:extLst>
            </p:cNvPr>
            <p:cNvSpPr/>
            <p:nvPr/>
          </p:nvSpPr>
          <p:spPr>
            <a:xfrm>
              <a:off x="5547020" y="1348803"/>
              <a:ext cx="288000" cy="201038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26</a:t>
              </a:r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D54D15D8-4B5E-74B0-DBA8-347B951CB5D9}"/>
                </a:ext>
              </a:extLst>
            </p:cNvPr>
            <p:cNvSpPr/>
            <p:nvPr/>
          </p:nvSpPr>
          <p:spPr>
            <a:xfrm>
              <a:off x="4627810" y="1348803"/>
              <a:ext cx="288000" cy="20103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dirty="0"/>
                <a:t>5,5</a:t>
              </a:r>
            </a:p>
          </p:txBody>
        </p:sp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19F02BDB-FAC1-7FA5-34FF-6414BD7C4972}"/>
              </a:ext>
            </a:extLst>
          </p:cNvPr>
          <p:cNvGrpSpPr/>
          <p:nvPr/>
        </p:nvGrpSpPr>
        <p:grpSpPr>
          <a:xfrm>
            <a:off x="1142253" y="1953266"/>
            <a:ext cx="5013458" cy="2994350"/>
            <a:chOff x="3547349" y="1098966"/>
            <a:chExt cx="7295749" cy="2915374"/>
          </a:xfrm>
        </p:grpSpPr>
        <p:sp>
          <p:nvSpPr>
            <p:cNvPr id="78" name="Rectangle : coins arrondis 77">
              <a:extLst>
                <a:ext uri="{FF2B5EF4-FFF2-40B4-BE49-F238E27FC236}">
                  <a16:creationId xmlns:a16="http://schemas.microsoft.com/office/drawing/2014/main" id="{F6677322-144D-316C-8F77-E536D67CF2F9}"/>
                </a:ext>
              </a:extLst>
            </p:cNvPr>
            <p:cNvSpPr/>
            <p:nvPr/>
          </p:nvSpPr>
          <p:spPr>
            <a:xfrm>
              <a:off x="3547349" y="1098966"/>
              <a:ext cx="7295749" cy="2915374"/>
            </a:xfrm>
            <a:prstGeom prst="roundRect">
              <a:avLst>
                <a:gd name="adj" fmla="val 4792"/>
              </a:avLst>
            </a:prstGeom>
            <a:solidFill>
              <a:schemeClr val="bg1">
                <a:alpha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defTabSz="358775"/>
              <a:r>
                <a:rPr lang="fr-FR" sz="1600" dirty="0">
                  <a:solidFill>
                    <a:schemeClr val="tx1"/>
                  </a:solidFill>
                </a:rPr>
                <a:t>No.  </a:t>
              </a:r>
              <a:r>
                <a:rPr lang="fr-FR" sz="2000" b="1" dirty="0">
                  <a:solidFill>
                    <a:schemeClr val="tx1"/>
                  </a:solidFill>
                </a:rPr>
                <a:t>15 		</a:t>
              </a:r>
              <a:r>
                <a:rPr lang="fr-FR" dirty="0">
                  <a:solidFill>
                    <a:schemeClr val="tx1"/>
                  </a:solidFill>
                </a:rPr>
                <a:t>Kalon : </a:t>
              </a:r>
              <a:r>
                <a:rPr lang="fr-FR" b="1" dirty="0">
                  <a:solidFill>
                    <a:schemeClr val="tx1"/>
                  </a:solidFill>
                </a:rPr>
                <a:t>105 – 120 bpm</a:t>
              </a:r>
            </a:p>
            <a:p>
              <a:pPr defTabSz="358775"/>
              <a:r>
                <a:rPr lang="fr-FR" b="1" dirty="0">
                  <a:solidFill>
                    <a:schemeClr val="tx1"/>
                  </a:solidFill>
                </a:rPr>
                <a:t>			</a:t>
              </a:r>
              <a:r>
                <a:rPr lang="fr-FR" dirty="0" err="1">
                  <a:solidFill>
                    <a:schemeClr val="tx1"/>
                  </a:solidFill>
                </a:rPr>
                <a:t>Kemenn</a:t>
              </a:r>
              <a:r>
                <a:rPr lang="fr-FR" dirty="0">
                  <a:solidFill>
                    <a:schemeClr val="tx1"/>
                  </a:solidFill>
                </a:rPr>
                <a:t> : </a:t>
              </a:r>
              <a:r>
                <a:rPr lang="fr-FR" b="1" dirty="0">
                  <a:solidFill>
                    <a:schemeClr val="tx1"/>
                  </a:solidFill>
                </a:rPr>
                <a:t>Récupération Dynamique</a:t>
              </a:r>
              <a:endParaRPr lang="fr-FR" sz="2000" b="1" dirty="0">
                <a:solidFill>
                  <a:schemeClr val="tx1"/>
                </a:solidFill>
              </a:endParaRPr>
            </a:p>
            <a:p>
              <a:pPr defTabSz="358775">
                <a:lnSpc>
                  <a:spcPct val="125000"/>
                </a:lnSpc>
              </a:pPr>
              <a:r>
                <a:rPr lang="fr-FR" sz="2400" b="1" dirty="0">
                  <a:solidFill>
                    <a:schemeClr val="tx1"/>
                  </a:solidFill>
                </a:rPr>
                <a:t>			</a:t>
              </a:r>
              <a:r>
                <a:rPr lang="fr-FR" sz="2400" dirty="0" err="1">
                  <a:solidFill>
                    <a:schemeClr val="tx1"/>
                  </a:solidFill>
                </a:rPr>
                <a:t>Nerzh</a:t>
              </a:r>
              <a:r>
                <a:rPr lang="fr-FR" sz="2400" dirty="0">
                  <a:solidFill>
                    <a:schemeClr val="tx1"/>
                  </a:solidFill>
                </a:rPr>
                <a:t>	</a:t>
              </a:r>
              <a:r>
                <a:rPr lang="fr-FR" sz="2400" b="1" dirty="0">
                  <a:solidFill>
                    <a:schemeClr val="tx1"/>
                  </a:solidFill>
                </a:rPr>
                <a:t>	</a:t>
              </a:r>
            </a:p>
            <a:p>
              <a:pPr defTabSz="358775">
                <a:lnSpc>
                  <a:spcPct val="125000"/>
                </a:lnSpc>
              </a:pPr>
              <a:r>
                <a:rPr lang="fr-FR" sz="2400" b="1" dirty="0">
                  <a:solidFill>
                    <a:schemeClr val="tx1"/>
                  </a:solidFill>
                </a:rPr>
                <a:t>			</a:t>
              </a:r>
              <a:r>
                <a:rPr lang="fr-FR" sz="2400" dirty="0" err="1">
                  <a:solidFill>
                    <a:schemeClr val="tx1"/>
                  </a:solidFill>
                </a:rPr>
                <a:t>Tizh</a:t>
              </a:r>
              <a:r>
                <a:rPr lang="fr-FR" sz="2400" dirty="0">
                  <a:solidFill>
                    <a:schemeClr val="tx1"/>
                  </a:solidFill>
                </a:rPr>
                <a:t>						</a:t>
              </a:r>
              <a:r>
                <a:rPr lang="fr-FR" sz="1600" dirty="0" err="1">
                  <a:solidFill>
                    <a:schemeClr val="tx1"/>
                  </a:solidFill>
                </a:rPr>
                <a:t>Riw</a:t>
              </a:r>
              <a:r>
                <a:rPr lang="fr-FR" sz="1600" dirty="0">
                  <a:solidFill>
                    <a:schemeClr val="tx1"/>
                  </a:solidFill>
                </a:rPr>
                <a:t> / min</a:t>
              </a:r>
            </a:p>
            <a:p>
              <a:pPr defTabSz="358775">
                <a:lnSpc>
                  <a:spcPct val="125000"/>
                </a:lnSpc>
              </a:pPr>
              <a:r>
                <a:rPr lang="fr-FR" sz="2400" dirty="0">
                  <a:solidFill>
                    <a:schemeClr val="tx1"/>
                  </a:solidFill>
                </a:rPr>
                <a:t>			</a:t>
              </a:r>
              <a:r>
                <a:rPr lang="fr-FR" sz="2400" dirty="0" err="1">
                  <a:solidFill>
                    <a:schemeClr val="tx1"/>
                  </a:solidFill>
                </a:rPr>
                <a:t>Amzervezh</a:t>
              </a:r>
              <a:r>
                <a:rPr lang="fr-FR" sz="2400" b="1" dirty="0">
                  <a:solidFill>
                    <a:schemeClr val="tx1"/>
                  </a:solidFill>
                </a:rPr>
                <a:t>				</a:t>
              </a:r>
              <a:r>
                <a:rPr lang="fr-FR" sz="1600" dirty="0" err="1">
                  <a:solidFill>
                    <a:schemeClr val="tx1"/>
                  </a:solidFill>
                </a:rPr>
                <a:t>min:ss</a:t>
              </a:r>
              <a:endParaRPr lang="fr-FR" sz="1600" dirty="0">
                <a:solidFill>
                  <a:schemeClr val="tx1"/>
                </a:solidFill>
              </a:endParaRPr>
            </a:p>
            <a:p>
              <a:pPr defTabSz="358775">
                <a:lnSpc>
                  <a:spcPct val="125000"/>
                </a:lnSpc>
              </a:pPr>
              <a:r>
                <a:rPr lang="fr-FR" sz="2400" dirty="0">
                  <a:solidFill>
                    <a:schemeClr val="tx1"/>
                  </a:solidFill>
                </a:rPr>
                <a:t>			</a:t>
              </a:r>
              <a:r>
                <a:rPr lang="fr-FR" sz="2400" dirty="0" err="1">
                  <a:solidFill>
                    <a:schemeClr val="tx1"/>
                  </a:solidFill>
                </a:rPr>
                <a:t>Pellder</a:t>
              </a:r>
              <a:r>
                <a:rPr lang="fr-FR" sz="2400" dirty="0">
                  <a:solidFill>
                    <a:schemeClr val="tx1"/>
                  </a:solidFill>
                </a:rPr>
                <a:t>					</a:t>
              </a:r>
              <a:r>
                <a:rPr lang="fr-FR" sz="1600" dirty="0">
                  <a:solidFill>
                    <a:schemeClr val="tx1"/>
                  </a:solidFill>
                </a:rPr>
                <a:t>km</a:t>
              </a:r>
            </a:p>
            <a:p>
              <a:pPr defTabSz="358775">
                <a:lnSpc>
                  <a:spcPct val="125000"/>
                </a:lnSpc>
              </a:pPr>
              <a:r>
                <a:rPr lang="fr-FR" sz="2400" b="1" dirty="0">
                  <a:solidFill>
                    <a:schemeClr val="tx1"/>
                  </a:solidFill>
                </a:rPr>
                <a:t>	 		</a:t>
              </a:r>
              <a:r>
                <a:rPr lang="fr-FR" sz="2400" dirty="0" err="1">
                  <a:solidFill>
                    <a:schemeClr val="tx1"/>
                  </a:solidFill>
                </a:rPr>
                <a:t>Energiezh</a:t>
              </a:r>
              <a:r>
                <a:rPr lang="fr-FR" sz="2400" dirty="0">
                  <a:solidFill>
                    <a:schemeClr val="tx1"/>
                  </a:solidFill>
                </a:rPr>
                <a:t>				</a:t>
              </a:r>
              <a:r>
                <a:rPr lang="fr-FR" sz="1600" dirty="0">
                  <a:solidFill>
                    <a:schemeClr val="tx1"/>
                  </a:solidFill>
                </a:rPr>
                <a:t>kcal</a:t>
              </a:r>
              <a:r>
                <a:rPr lang="fr-FR" sz="2400" dirty="0">
                  <a:solidFill>
                    <a:schemeClr val="tx1"/>
                  </a:solidFill>
                </a:rPr>
                <a:t> </a:t>
              </a:r>
              <a:endParaRPr lang="fr-FR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 : coins arrondis 78">
              <a:extLst>
                <a:ext uri="{FF2B5EF4-FFF2-40B4-BE49-F238E27FC236}">
                  <a16:creationId xmlns:a16="http://schemas.microsoft.com/office/drawing/2014/main" id="{3C9B10BB-33AF-0299-4200-D1FE348C9E48}"/>
                </a:ext>
              </a:extLst>
            </p:cNvPr>
            <p:cNvSpPr/>
            <p:nvPr/>
          </p:nvSpPr>
          <p:spPr>
            <a:xfrm>
              <a:off x="7509759" y="2740352"/>
              <a:ext cx="1269958" cy="324000"/>
            </a:xfrm>
            <a:prstGeom prst="roundRect">
              <a:avLst/>
            </a:prstGeom>
            <a:ln w="12700">
              <a:solidFill>
                <a:schemeClr val="accent3">
                  <a:lumMod val="1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2400" dirty="0">
                  <a:solidFill>
                    <a:srgbClr val="000000"/>
                  </a:solidFill>
                </a:rPr>
                <a:t>1:08</a:t>
              </a:r>
            </a:p>
          </p:txBody>
        </p:sp>
        <p:sp>
          <p:nvSpPr>
            <p:cNvPr id="80" name="Rectangle : coins arrondis 79">
              <a:extLst>
                <a:ext uri="{FF2B5EF4-FFF2-40B4-BE49-F238E27FC236}">
                  <a16:creationId xmlns:a16="http://schemas.microsoft.com/office/drawing/2014/main" id="{8F096CED-5E01-1D93-DE2C-7A2AAFB0D81B}"/>
                </a:ext>
              </a:extLst>
            </p:cNvPr>
            <p:cNvSpPr/>
            <p:nvPr/>
          </p:nvSpPr>
          <p:spPr>
            <a:xfrm>
              <a:off x="7509759" y="2314253"/>
              <a:ext cx="1269958" cy="324000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2400" dirty="0">
                  <a:solidFill>
                    <a:srgbClr val="000000"/>
                  </a:solidFill>
                </a:rPr>
                <a:t>28</a:t>
              </a:r>
            </a:p>
          </p:txBody>
        </p:sp>
        <p:sp>
          <p:nvSpPr>
            <p:cNvPr id="81" name="Rectangle : coins arrondis 80">
              <a:extLst>
                <a:ext uri="{FF2B5EF4-FFF2-40B4-BE49-F238E27FC236}">
                  <a16:creationId xmlns:a16="http://schemas.microsoft.com/office/drawing/2014/main" id="{D38A6768-7659-BA78-7BCB-5B99DD40485E}"/>
                </a:ext>
              </a:extLst>
            </p:cNvPr>
            <p:cNvSpPr/>
            <p:nvPr/>
          </p:nvSpPr>
          <p:spPr>
            <a:xfrm>
              <a:off x="7509759" y="1888155"/>
              <a:ext cx="1269958" cy="324000"/>
            </a:xfrm>
            <a:prstGeom prst="roundRect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24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2" name="Rectangle : coins arrondis 81">
              <a:extLst>
                <a:ext uri="{FF2B5EF4-FFF2-40B4-BE49-F238E27FC236}">
                  <a16:creationId xmlns:a16="http://schemas.microsoft.com/office/drawing/2014/main" id="{6CEF229D-D470-3621-7264-0EA23DC283EC}"/>
                </a:ext>
              </a:extLst>
            </p:cNvPr>
            <p:cNvSpPr/>
            <p:nvPr/>
          </p:nvSpPr>
          <p:spPr>
            <a:xfrm>
              <a:off x="7509759" y="3166450"/>
              <a:ext cx="1269958" cy="324000"/>
            </a:xfrm>
            <a:prstGeom prst="roundRect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2400" dirty="0">
                  <a:solidFill>
                    <a:srgbClr val="000000"/>
                  </a:solidFill>
                </a:rPr>
                <a:t>0,83</a:t>
              </a:r>
            </a:p>
          </p:txBody>
        </p:sp>
        <p:sp>
          <p:nvSpPr>
            <p:cNvPr id="83" name="Rectangle : coins arrondis 82">
              <a:extLst>
                <a:ext uri="{FF2B5EF4-FFF2-40B4-BE49-F238E27FC236}">
                  <a16:creationId xmlns:a16="http://schemas.microsoft.com/office/drawing/2014/main" id="{F13B5D01-0B09-F665-8E4F-A68490A0B892}"/>
                </a:ext>
              </a:extLst>
            </p:cNvPr>
            <p:cNvSpPr/>
            <p:nvPr/>
          </p:nvSpPr>
          <p:spPr>
            <a:xfrm>
              <a:off x="7509759" y="3592547"/>
              <a:ext cx="1269958" cy="324000"/>
            </a:xfrm>
            <a:prstGeom prst="roundRect">
              <a:avLst/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2400" dirty="0">
                  <a:solidFill>
                    <a:srgbClr val="000000"/>
                  </a:solidFill>
                </a:rPr>
                <a:t>85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26635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UrBizia">
      <a:dk1>
        <a:srgbClr val="181C6A"/>
      </a:dk1>
      <a:lt1>
        <a:srgbClr val="FFFFFF"/>
      </a:lt1>
      <a:dk2>
        <a:srgbClr val="540E28"/>
      </a:dk2>
      <a:lt2>
        <a:srgbClr val="F1EDEB"/>
      </a:lt2>
      <a:accent1>
        <a:srgbClr val="C55A7A"/>
      </a:accent1>
      <a:accent2>
        <a:srgbClr val="C6B9A8"/>
      </a:accent2>
      <a:accent3>
        <a:srgbClr val="E9D8BB"/>
      </a:accent3>
      <a:accent4>
        <a:srgbClr val="FF7F00"/>
      </a:accent4>
      <a:accent5>
        <a:srgbClr val="008B8B"/>
      </a:accent5>
      <a:accent6>
        <a:srgbClr val="C9FFC3"/>
      </a:accent6>
      <a:hlink>
        <a:srgbClr val="0000FF"/>
      </a:hlink>
      <a:folHlink>
        <a:srgbClr val="FE5B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452</Words>
  <Application>Microsoft Office PowerPoint</Application>
  <PresentationFormat>Grand écran</PresentationFormat>
  <Paragraphs>115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Celticmd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Gilles BRUN GAUTIER</dc:creator>
  <cp:lastModifiedBy>Gilles BRUN GAUTIER</cp:lastModifiedBy>
  <cp:revision>3</cp:revision>
  <dcterms:created xsi:type="dcterms:W3CDTF">2026-09-10T20:38:36Z</dcterms:created>
  <dcterms:modified xsi:type="dcterms:W3CDTF">2026-09-10T22:23:13Z</dcterms:modified>
</cp:coreProperties>
</file>